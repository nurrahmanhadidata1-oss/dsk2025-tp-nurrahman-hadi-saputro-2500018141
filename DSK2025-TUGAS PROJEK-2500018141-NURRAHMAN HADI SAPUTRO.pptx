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Helvetica World Bold" charset="1" panose="020B0800040000020004"/>
      <p:regular r:id="rId15"/>
    </p:embeddedFont>
    <p:embeddedFont>
      <p:font typeface="Neue Machina Ultra-Bold" charset="1" panose="00000900000000000000"/>
      <p:regular r:id="rId16"/>
    </p:embeddedFont>
    <p:embeddedFont>
      <p:font typeface="Helvetica World" charset="1" panose="020B0500040000020004"/>
      <p:regular r:id="rId17"/>
    </p:embeddedFont>
    <p:embeddedFont>
      <p:font typeface="Monda" charset="1" panose="02000503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2621565">
            <a:off x="-5840629" y="5724806"/>
            <a:ext cx="13738659" cy="6282868"/>
            <a:chOff x="0" y="0"/>
            <a:chExt cx="3618412" cy="1654747"/>
          </a:xfrm>
        </p:grpSpPr>
        <p:sp>
          <p:nvSpPr>
            <p:cNvPr name="Freeform 4" id="4"/>
            <p:cNvSpPr/>
            <p:nvPr/>
          </p:nvSpPr>
          <p:spPr>
            <a:xfrm flipH="false" flipV="false" rot="0">
              <a:off x="0" y="0"/>
              <a:ext cx="3618412" cy="1654747"/>
            </a:xfrm>
            <a:custGeom>
              <a:avLst/>
              <a:gdLst/>
              <a:ahLst/>
              <a:cxnLst/>
              <a:rect r="r" b="b" t="t" l="l"/>
              <a:pathLst>
                <a:path h="1654747" w="3618412">
                  <a:moveTo>
                    <a:pt x="0" y="0"/>
                  </a:moveTo>
                  <a:lnTo>
                    <a:pt x="3618412" y="0"/>
                  </a:lnTo>
                  <a:lnTo>
                    <a:pt x="3618412" y="1654747"/>
                  </a:lnTo>
                  <a:lnTo>
                    <a:pt x="0" y="1654747"/>
                  </a:lnTo>
                  <a:close/>
                </a:path>
              </a:pathLst>
            </a:custGeom>
            <a:solidFill>
              <a:srgbClr val="091057"/>
            </a:solidFill>
          </p:spPr>
        </p:sp>
        <p:sp>
          <p:nvSpPr>
            <p:cNvPr name="TextBox 5" id="5"/>
            <p:cNvSpPr txBox="true"/>
            <p:nvPr/>
          </p:nvSpPr>
          <p:spPr>
            <a:xfrm>
              <a:off x="0" y="-47625"/>
              <a:ext cx="3618412" cy="170237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621565">
            <a:off x="-6168979" y="6617266"/>
            <a:ext cx="19560257" cy="2460537"/>
            <a:chOff x="0" y="0"/>
            <a:chExt cx="5151673" cy="648043"/>
          </a:xfrm>
        </p:grpSpPr>
        <p:sp>
          <p:nvSpPr>
            <p:cNvPr name="Freeform 7" id="7"/>
            <p:cNvSpPr/>
            <p:nvPr/>
          </p:nvSpPr>
          <p:spPr>
            <a:xfrm flipH="false" flipV="false" rot="0">
              <a:off x="0" y="0"/>
              <a:ext cx="5151673" cy="648043"/>
            </a:xfrm>
            <a:custGeom>
              <a:avLst/>
              <a:gdLst/>
              <a:ahLst/>
              <a:cxnLst/>
              <a:rect r="r" b="b" t="t" l="l"/>
              <a:pathLst>
                <a:path h="648043" w="5151673">
                  <a:moveTo>
                    <a:pt x="0" y="0"/>
                  </a:moveTo>
                  <a:lnTo>
                    <a:pt x="5151673" y="0"/>
                  </a:lnTo>
                  <a:lnTo>
                    <a:pt x="5151673" y="648043"/>
                  </a:lnTo>
                  <a:lnTo>
                    <a:pt x="0" y="648043"/>
                  </a:lnTo>
                  <a:close/>
                </a:path>
              </a:pathLst>
            </a:custGeom>
            <a:solidFill>
              <a:srgbClr val="024CAA"/>
            </a:solidFill>
          </p:spPr>
        </p:sp>
        <p:sp>
          <p:nvSpPr>
            <p:cNvPr name="TextBox 8" id="8"/>
            <p:cNvSpPr txBox="true"/>
            <p:nvPr/>
          </p:nvSpPr>
          <p:spPr>
            <a:xfrm>
              <a:off x="0" y="-47625"/>
              <a:ext cx="5151673" cy="69566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3611149" y="2256461"/>
            <a:ext cx="10625224" cy="1841172"/>
          </a:xfrm>
          <a:prstGeom prst="rect">
            <a:avLst/>
          </a:prstGeom>
        </p:spPr>
        <p:txBody>
          <a:bodyPr anchor="t" rtlCol="false" tIns="0" lIns="0" bIns="0" rIns="0">
            <a:spAutoFit/>
          </a:bodyPr>
          <a:lstStyle/>
          <a:p>
            <a:pPr algn="ctr">
              <a:lnSpc>
                <a:spcPts val="6513"/>
              </a:lnSpc>
            </a:pPr>
            <a:r>
              <a:rPr lang="en-US" b="true" sz="6203">
                <a:solidFill>
                  <a:srgbClr val="024CAA"/>
                </a:solidFill>
                <a:latin typeface="Helvetica World Bold"/>
                <a:ea typeface="Helvetica World Bold"/>
                <a:cs typeface="Helvetica World Bold"/>
                <a:sym typeface="Helvetica World Bold"/>
              </a:rPr>
              <a:t>PROGRAM PENGECEKAN NIM MAHASISWA</a:t>
            </a:r>
          </a:p>
        </p:txBody>
      </p:sp>
      <p:sp>
        <p:nvSpPr>
          <p:cNvPr name="TextBox 10" id="10"/>
          <p:cNvSpPr txBox="true"/>
          <p:nvPr/>
        </p:nvSpPr>
        <p:spPr>
          <a:xfrm rot="0">
            <a:off x="6088819" y="4471041"/>
            <a:ext cx="5669883" cy="971501"/>
          </a:xfrm>
          <a:prstGeom prst="rect">
            <a:avLst/>
          </a:prstGeom>
        </p:spPr>
        <p:txBody>
          <a:bodyPr anchor="t" rtlCol="false" tIns="0" lIns="0" bIns="0" rIns="0">
            <a:spAutoFit/>
          </a:bodyPr>
          <a:lstStyle/>
          <a:p>
            <a:pPr algn="ctr">
              <a:lnSpc>
                <a:spcPts val="3750"/>
              </a:lnSpc>
              <a:spcBef>
                <a:spcPct val="0"/>
              </a:spcBef>
            </a:pPr>
            <a:r>
              <a:rPr lang="en-US" b="true" sz="3571" spc="-71">
                <a:solidFill>
                  <a:srgbClr val="000000"/>
                </a:solidFill>
                <a:latin typeface="Neue Machina Ultra-Bold"/>
                <a:ea typeface="Neue Machina Ultra-Bold"/>
                <a:cs typeface="Neue Machina Ultra-Bold"/>
                <a:sym typeface="Neue Machina Ultra-Bold"/>
              </a:rPr>
              <a:t>DASAR SISTEM KOMPUTER</a:t>
            </a:r>
          </a:p>
        </p:txBody>
      </p:sp>
      <p:sp>
        <p:nvSpPr>
          <p:cNvPr name="TextBox 11" id="11"/>
          <p:cNvSpPr txBox="true"/>
          <p:nvPr/>
        </p:nvSpPr>
        <p:spPr>
          <a:xfrm rot="0">
            <a:off x="6335784" y="6712852"/>
            <a:ext cx="5616433" cy="550545"/>
          </a:xfrm>
          <a:prstGeom prst="rect">
            <a:avLst/>
          </a:prstGeom>
        </p:spPr>
        <p:txBody>
          <a:bodyPr anchor="t" rtlCol="false" tIns="0" lIns="0" bIns="0" rIns="0">
            <a:spAutoFit/>
          </a:bodyPr>
          <a:lstStyle/>
          <a:p>
            <a:pPr algn="r">
              <a:lnSpc>
                <a:spcPts val="4199"/>
              </a:lnSpc>
            </a:pPr>
            <a:r>
              <a:rPr lang="en-US" b="true" sz="2999" spc="-59">
                <a:solidFill>
                  <a:srgbClr val="024CAA"/>
                </a:solidFill>
                <a:latin typeface="Helvetica World Bold"/>
                <a:ea typeface="Helvetica World Bold"/>
                <a:cs typeface="Helvetica World Bold"/>
                <a:sym typeface="Helvetica World Bold"/>
              </a:rPr>
              <a:t>NURRAHMAN HADI SAPUTRO</a:t>
            </a:r>
          </a:p>
        </p:txBody>
      </p:sp>
      <p:sp>
        <p:nvSpPr>
          <p:cNvPr name="TextBox 12" id="12"/>
          <p:cNvSpPr txBox="true"/>
          <p:nvPr/>
        </p:nvSpPr>
        <p:spPr>
          <a:xfrm rot="0">
            <a:off x="7175107" y="7406272"/>
            <a:ext cx="3937786" cy="504825"/>
          </a:xfrm>
          <a:prstGeom prst="rect">
            <a:avLst/>
          </a:prstGeom>
        </p:spPr>
        <p:txBody>
          <a:bodyPr anchor="t" rtlCol="false" tIns="0" lIns="0" bIns="0" rIns="0">
            <a:spAutoFit/>
          </a:bodyPr>
          <a:lstStyle/>
          <a:p>
            <a:pPr algn="ctr">
              <a:lnSpc>
                <a:spcPts val="4199"/>
              </a:lnSpc>
            </a:pPr>
            <a:r>
              <a:rPr lang="en-US" sz="2999" spc="-59">
                <a:solidFill>
                  <a:srgbClr val="024CAA"/>
                </a:solidFill>
                <a:latin typeface="Helvetica World"/>
                <a:ea typeface="Helvetica World"/>
                <a:cs typeface="Helvetica World"/>
                <a:sym typeface="Helvetica World"/>
              </a:rPr>
              <a:t>2500018141</a:t>
            </a:r>
          </a:p>
        </p:txBody>
      </p:sp>
      <p:grpSp>
        <p:nvGrpSpPr>
          <p:cNvPr name="Group 13" id="13"/>
          <p:cNvGrpSpPr/>
          <p:nvPr/>
        </p:nvGrpSpPr>
        <p:grpSpPr>
          <a:xfrm rot="2621565">
            <a:off x="10182461" y="-3141434"/>
            <a:ext cx="13738659" cy="6282868"/>
            <a:chOff x="0" y="0"/>
            <a:chExt cx="3618412" cy="1654747"/>
          </a:xfrm>
        </p:grpSpPr>
        <p:sp>
          <p:nvSpPr>
            <p:cNvPr name="Freeform 14" id="14"/>
            <p:cNvSpPr/>
            <p:nvPr/>
          </p:nvSpPr>
          <p:spPr>
            <a:xfrm flipH="false" flipV="false" rot="0">
              <a:off x="0" y="0"/>
              <a:ext cx="3618412" cy="1654747"/>
            </a:xfrm>
            <a:custGeom>
              <a:avLst/>
              <a:gdLst/>
              <a:ahLst/>
              <a:cxnLst/>
              <a:rect r="r" b="b" t="t" l="l"/>
              <a:pathLst>
                <a:path h="1654747" w="3618412">
                  <a:moveTo>
                    <a:pt x="0" y="0"/>
                  </a:moveTo>
                  <a:lnTo>
                    <a:pt x="3618412" y="0"/>
                  </a:lnTo>
                  <a:lnTo>
                    <a:pt x="3618412" y="1654747"/>
                  </a:lnTo>
                  <a:lnTo>
                    <a:pt x="0" y="1654747"/>
                  </a:lnTo>
                  <a:close/>
                </a:path>
              </a:pathLst>
            </a:custGeom>
            <a:solidFill>
              <a:srgbClr val="091057"/>
            </a:solidFill>
          </p:spPr>
        </p:sp>
        <p:sp>
          <p:nvSpPr>
            <p:cNvPr name="TextBox 15" id="15"/>
            <p:cNvSpPr txBox="true"/>
            <p:nvPr/>
          </p:nvSpPr>
          <p:spPr>
            <a:xfrm>
              <a:off x="0" y="-47625"/>
              <a:ext cx="3618412" cy="170237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2621565">
            <a:off x="5905302" y="382454"/>
            <a:ext cx="19560257" cy="2460537"/>
            <a:chOff x="0" y="0"/>
            <a:chExt cx="5151673" cy="648043"/>
          </a:xfrm>
        </p:grpSpPr>
        <p:sp>
          <p:nvSpPr>
            <p:cNvPr name="Freeform 17" id="17"/>
            <p:cNvSpPr/>
            <p:nvPr/>
          </p:nvSpPr>
          <p:spPr>
            <a:xfrm flipH="false" flipV="false" rot="0">
              <a:off x="0" y="0"/>
              <a:ext cx="5151673" cy="648043"/>
            </a:xfrm>
            <a:custGeom>
              <a:avLst/>
              <a:gdLst/>
              <a:ahLst/>
              <a:cxnLst/>
              <a:rect r="r" b="b" t="t" l="l"/>
              <a:pathLst>
                <a:path h="648043" w="5151673">
                  <a:moveTo>
                    <a:pt x="0" y="0"/>
                  </a:moveTo>
                  <a:lnTo>
                    <a:pt x="5151673" y="0"/>
                  </a:lnTo>
                  <a:lnTo>
                    <a:pt x="5151673" y="648043"/>
                  </a:lnTo>
                  <a:lnTo>
                    <a:pt x="0" y="648043"/>
                  </a:lnTo>
                  <a:close/>
                </a:path>
              </a:pathLst>
            </a:custGeom>
            <a:solidFill>
              <a:srgbClr val="024CAA"/>
            </a:solidFill>
          </p:spPr>
        </p:sp>
        <p:sp>
          <p:nvSpPr>
            <p:cNvPr name="TextBox 18" id="18"/>
            <p:cNvSpPr txBox="true"/>
            <p:nvPr/>
          </p:nvSpPr>
          <p:spPr>
            <a:xfrm>
              <a:off x="0" y="-47625"/>
              <a:ext cx="5151673" cy="695668"/>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1028700" y="0"/>
            <a:ext cx="3648341" cy="10287000"/>
            <a:chOff x="0" y="0"/>
            <a:chExt cx="960880" cy="2709333"/>
          </a:xfrm>
        </p:grpSpPr>
        <p:sp>
          <p:nvSpPr>
            <p:cNvPr name="Freeform 4" id="4"/>
            <p:cNvSpPr/>
            <p:nvPr/>
          </p:nvSpPr>
          <p:spPr>
            <a:xfrm flipH="false" flipV="false" rot="0">
              <a:off x="0" y="0"/>
              <a:ext cx="960880" cy="2709333"/>
            </a:xfrm>
            <a:custGeom>
              <a:avLst/>
              <a:gdLst/>
              <a:ahLst/>
              <a:cxnLst/>
              <a:rect r="r" b="b" t="t" l="l"/>
              <a:pathLst>
                <a:path h="2709333" w="960880">
                  <a:moveTo>
                    <a:pt x="0" y="0"/>
                  </a:moveTo>
                  <a:lnTo>
                    <a:pt x="960880" y="0"/>
                  </a:lnTo>
                  <a:lnTo>
                    <a:pt x="960880" y="2709333"/>
                  </a:lnTo>
                  <a:lnTo>
                    <a:pt x="0" y="2709333"/>
                  </a:lnTo>
                  <a:close/>
                </a:path>
              </a:pathLst>
            </a:custGeom>
            <a:solidFill>
              <a:srgbClr val="024CAA"/>
            </a:solidFill>
          </p:spPr>
        </p:sp>
        <p:sp>
          <p:nvSpPr>
            <p:cNvPr name="TextBox 5" id="5"/>
            <p:cNvSpPr txBox="true"/>
            <p:nvPr/>
          </p:nvSpPr>
          <p:spPr>
            <a:xfrm>
              <a:off x="0" y="-219075"/>
              <a:ext cx="960880" cy="2928408"/>
            </a:xfrm>
            <a:prstGeom prst="rect">
              <a:avLst/>
            </a:prstGeom>
          </p:spPr>
          <p:txBody>
            <a:bodyPr anchor="ctr" rtlCol="false" tIns="50800" lIns="50800" bIns="50800" rIns="50800"/>
            <a:lstStyle/>
            <a:p>
              <a:pPr algn="ctr">
                <a:lnSpc>
                  <a:spcPts val="5270"/>
                </a:lnSpc>
              </a:pPr>
            </a:p>
          </p:txBody>
        </p:sp>
      </p:grpSp>
      <p:grpSp>
        <p:nvGrpSpPr>
          <p:cNvPr name="Group 6" id="6"/>
          <p:cNvGrpSpPr/>
          <p:nvPr/>
        </p:nvGrpSpPr>
        <p:grpSpPr>
          <a:xfrm rot="0">
            <a:off x="1028700" y="0"/>
            <a:ext cx="678915" cy="10287000"/>
            <a:chOff x="0" y="0"/>
            <a:chExt cx="178809" cy="2709333"/>
          </a:xfrm>
        </p:grpSpPr>
        <p:sp>
          <p:nvSpPr>
            <p:cNvPr name="Freeform 7" id="7"/>
            <p:cNvSpPr/>
            <p:nvPr/>
          </p:nvSpPr>
          <p:spPr>
            <a:xfrm flipH="false" flipV="false" rot="0">
              <a:off x="0" y="0"/>
              <a:ext cx="178809" cy="2709333"/>
            </a:xfrm>
            <a:custGeom>
              <a:avLst/>
              <a:gdLst/>
              <a:ahLst/>
              <a:cxnLst/>
              <a:rect r="r" b="b" t="t" l="l"/>
              <a:pathLst>
                <a:path h="2709333" w="178809">
                  <a:moveTo>
                    <a:pt x="0" y="0"/>
                  </a:moveTo>
                  <a:lnTo>
                    <a:pt x="178809" y="0"/>
                  </a:lnTo>
                  <a:lnTo>
                    <a:pt x="178809" y="2709333"/>
                  </a:lnTo>
                  <a:lnTo>
                    <a:pt x="0" y="2709333"/>
                  </a:lnTo>
                  <a:close/>
                </a:path>
              </a:pathLst>
            </a:custGeom>
            <a:solidFill>
              <a:srgbClr val="091057"/>
            </a:solidFill>
          </p:spPr>
        </p:sp>
        <p:sp>
          <p:nvSpPr>
            <p:cNvPr name="TextBox 8" id="8"/>
            <p:cNvSpPr txBox="true"/>
            <p:nvPr/>
          </p:nvSpPr>
          <p:spPr>
            <a:xfrm>
              <a:off x="0" y="-219075"/>
              <a:ext cx="178809" cy="2928408"/>
            </a:xfrm>
            <a:prstGeom prst="rect">
              <a:avLst/>
            </a:prstGeom>
          </p:spPr>
          <p:txBody>
            <a:bodyPr anchor="ctr" rtlCol="false" tIns="50800" lIns="50800" bIns="50800" rIns="50800"/>
            <a:lstStyle/>
            <a:p>
              <a:pPr algn="ctr">
                <a:lnSpc>
                  <a:spcPts val="5270"/>
                </a:lnSpc>
              </a:pPr>
            </a:p>
          </p:txBody>
        </p:sp>
      </p:grpSp>
      <p:sp>
        <p:nvSpPr>
          <p:cNvPr name="TextBox 9" id="9"/>
          <p:cNvSpPr txBox="true"/>
          <p:nvPr/>
        </p:nvSpPr>
        <p:spPr>
          <a:xfrm rot="0">
            <a:off x="5403437" y="542925"/>
            <a:ext cx="9890690" cy="1527812"/>
          </a:xfrm>
          <a:prstGeom prst="rect">
            <a:avLst/>
          </a:prstGeom>
        </p:spPr>
        <p:txBody>
          <a:bodyPr anchor="t" rtlCol="false" tIns="0" lIns="0" bIns="0" rIns="0">
            <a:spAutoFit/>
          </a:bodyPr>
          <a:lstStyle/>
          <a:p>
            <a:pPr algn="l">
              <a:lnSpc>
                <a:spcPts val="12599"/>
              </a:lnSpc>
              <a:spcBef>
                <a:spcPct val="0"/>
              </a:spcBef>
            </a:pPr>
            <a:r>
              <a:rPr lang="en-US" b="true" sz="6299">
                <a:solidFill>
                  <a:srgbClr val="024CAA"/>
                </a:solidFill>
                <a:latin typeface="Helvetica World Bold"/>
                <a:ea typeface="Helvetica World Bold"/>
                <a:cs typeface="Helvetica World Bold"/>
                <a:sym typeface="Helvetica World Bold"/>
              </a:rPr>
              <a:t>LATAR BELAKANG</a:t>
            </a:r>
          </a:p>
        </p:txBody>
      </p:sp>
      <p:sp>
        <p:nvSpPr>
          <p:cNvPr name="TextBox 10" id="10"/>
          <p:cNvSpPr txBox="true"/>
          <p:nvPr/>
        </p:nvSpPr>
        <p:spPr>
          <a:xfrm rot="0">
            <a:off x="5403437" y="2379345"/>
            <a:ext cx="10514105" cy="6704482"/>
          </a:xfrm>
          <a:prstGeom prst="rect">
            <a:avLst/>
          </a:prstGeom>
        </p:spPr>
        <p:txBody>
          <a:bodyPr anchor="t" rtlCol="false" tIns="0" lIns="0" bIns="0" rIns="0">
            <a:spAutoFit/>
          </a:bodyPr>
          <a:lstStyle/>
          <a:p>
            <a:pPr algn="just">
              <a:lnSpc>
                <a:spcPts val="5868"/>
              </a:lnSpc>
            </a:pPr>
            <a:r>
              <a:rPr lang="en-US" sz="4192">
                <a:solidFill>
                  <a:srgbClr val="091057"/>
                </a:solidFill>
                <a:latin typeface="Monda"/>
                <a:ea typeface="Monda"/>
                <a:cs typeface="Monda"/>
                <a:sym typeface="Monda"/>
              </a:rPr>
              <a:t>NIM merupakan identitas penting dalam sistem akademik sehingga perlu divalidasi dengan benar. Melalui projek ini, mahasiswa dilatih untuk memahami cara kerja sistem komputer tingkat rendah dengan membuat aplikasi validasi NIM Mahasiswa Kelas C menggunakan bahasa Assembly x86.</a:t>
            </a:r>
          </a:p>
          <a:p>
            <a:pPr algn="just">
              <a:lnSpc>
                <a:spcPts val="655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2693858">
            <a:off x="15424850" y="9113633"/>
            <a:ext cx="4359231" cy="954029"/>
            <a:chOff x="0" y="0"/>
            <a:chExt cx="5151673" cy="1127457"/>
          </a:xfrm>
        </p:grpSpPr>
        <p:sp>
          <p:nvSpPr>
            <p:cNvPr name="Freeform 4" id="4"/>
            <p:cNvSpPr/>
            <p:nvPr/>
          </p:nvSpPr>
          <p:spPr>
            <a:xfrm flipH="false" flipV="false" rot="0">
              <a:off x="0" y="0"/>
              <a:ext cx="5151673" cy="1127457"/>
            </a:xfrm>
            <a:custGeom>
              <a:avLst/>
              <a:gdLst/>
              <a:ahLst/>
              <a:cxnLst/>
              <a:rect r="r" b="b" t="t" l="l"/>
              <a:pathLst>
                <a:path h="1127457" w="5151673">
                  <a:moveTo>
                    <a:pt x="0" y="0"/>
                  </a:moveTo>
                  <a:lnTo>
                    <a:pt x="5151673" y="0"/>
                  </a:lnTo>
                  <a:lnTo>
                    <a:pt x="5151673" y="1127457"/>
                  </a:lnTo>
                  <a:lnTo>
                    <a:pt x="0" y="1127457"/>
                  </a:lnTo>
                  <a:close/>
                </a:path>
              </a:pathLst>
            </a:custGeom>
            <a:solidFill>
              <a:srgbClr val="024CAA"/>
            </a:solidFill>
          </p:spPr>
        </p:sp>
        <p:sp>
          <p:nvSpPr>
            <p:cNvPr name="TextBox 5" id="5"/>
            <p:cNvSpPr txBox="true"/>
            <p:nvPr/>
          </p:nvSpPr>
          <p:spPr>
            <a:xfrm>
              <a:off x="0" y="-47625"/>
              <a:ext cx="5151673" cy="117508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693858">
            <a:off x="16430465" y="9871538"/>
            <a:ext cx="3061820" cy="1631688"/>
            <a:chOff x="0" y="0"/>
            <a:chExt cx="3618412" cy="1928304"/>
          </a:xfrm>
        </p:grpSpPr>
        <p:sp>
          <p:nvSpPr>
            <p:cNvPr name="Freeform 7" id="7"/>
            <p:cNvSpPr/>
            <p:nvPr/>
          </p:nvSpPr>
          <p:spPr>
            <a:xfrm flipH="false" flipV="false" rot="0">
              <a:off x="0" y="0"/>
              <a:ext cx="3618412" cy="1928304"/>
            </a:xfrm>
            <a:custGeom>
              <a:avLst/>
              <a:gdLst/>
              <a:ahLst/>
              <a:cxnLst/>
              <a:rect r="r" b="b" t="t" l="l"/>
              <a:pathLst>
                <a:path h="1928304" w="3618412">
                  <a:moveTo>
                    <a:pt x="0" y="0"/>
                  </a:moveTo>
                  <a:lnTo>
                    <a:pt x="3618412" y="0"/>
                  </a:lnTo>
                  <a:lnTo>
                    <a:pt x="3618412" y="1928304"/>
                  </a:lnTo>
                  <a:lnTo>
                    <a:pt x="0" y="1928304"/>
                  </a:lnTo>
                  <a:close/>
                </a:path>
              </a:pathLst>
            </a:custGeom>
            <a:solidFill>
              <a:srgbClr val="091057"/>
            </a:solidFill>
          </p:spPr>
        </p:sp>
        <p:sp>
          <p:nvSpPr>
            <p:cNvPr name="TextBox 8" id="8"/>
            <p:cNvSpPr txBox="true"/>
            <p:nvPr/>
          </p:nvSpPr>
          <p:spPr>
            <a:xfrm>
              <a:off x="0" y="-47625"/>
              <a:ext cx="3618412" cy="197592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0" y="0"/>
            <a:ext cx="9144000" cy="522283"/>
            <a:chOff x="0" y="0"/>
            <a:chExt cx="2408296" cy="137556"/>
          </a:xfrm>
        </p:grpSpPr>
        <p:sp>
          <p:nvSpPr>
            <p:cNvPr name="Freeform 10" id="10"/>
            <p:cNvSpPr/>
            <p:nvPr/>
          </p:nvSpPr>
          <p:spPr>
            <a:xfrm flipH="false" flipV="false" rot="0">
              <a:off x="0" y="0"/>
              <a:ext cx="2408296" cy="137556"/>
            </a:xfrm>
            <a:custGeom>
              <a:avLst/>
              <a:gdLst/>
              <a:ahLst/>
              <a:cxnLst/>
              <a:rect r="r" b="b" t="t" l="l"/>
              <a:pathLst>
                <a:path h="137556" w="2408296">
                  <a:moveTo>
                    <a:pt x="0" y="0"/>
                  </a:moveTo>
                  <a:lnTo>
                    <a:pt x="2408296" y="0"/>
                  </a:lnTo>
                  <a:lnTo>
                    <a:pt x="2408296" y="137556"/>
                  </a:lnTo>
                  <a:lnTo>
                    <a:pt x="0" y="137556"/>
                  </a:lnTo>
                  <a:close/>
                </a:path>
              </a:pathLst>
            </a:custGeom>
            <a:solidFill>
              <a:srgbClr val="091057"/>
            </a:solidFill>
          </p:spPr>
        </p:sp>
        <p:sp>
          <p:nvSpPr>
            <p:cNvPr name="TextBox 11" id="11"/>
            <p:cNvSpPr txBox="true"/>
            <p:nvPr/>
          </p:nvSpPr>
          <p:spPr>
            <a:xfrm>
              <a:off x="0" y="-219075"/>
              <a:ext cx="2408296" cy="356631"/>
            </a:xfrm>
            <a:prstGeom prst="rect">
              <a:avLst/>
            </a:prstGeom>
          </p:spPr>
          <p:txBody>
            <a:bodyPr anchor="ctr" rtlCol="false" tIns="50800" lIns="50800" bIns="50800" rIns="50800"/>
            <a:lstStyle/>
            <a:p>
              <a:pPr algn="ctr">
                <a:lnSpc>
                  <a:spcPts val="5270"/>
                </a:lnSpc>
              </a:pPr>
            </a:p>
          </p:txBody>
        </p:sp>
      </p:grpSp>
      <p:grpSp>
        <p:nvGrpSpPr>
          <p:cNvPr name="Group 12" id="12"/>
          <p:cNvGrpSpPr/>
          <p:nvPr/>
        </p:nvGrpSpPr>
        <p:grpSpPr>
          <a:xfrm rot="0">
            <a:off x="9118547" y="0"/>
            <a:ext cx="9619246" cy="522283"/>
            <a:chOff x="0" y="0"/>
            <a:chExt cx="2533464" cy="137556"/>
          </a:xfrm>
        </p:grpSpPr>
        <p:sp>
          <p:nvSpPr>
            <p:cNvPr name="Freeform 13" id="13"/>
            <p:cNvSpPr/>
            <p:nvPr/>
          </p:nvSpPr>
          <p:spPr>
            <a:xfrm flipH="false" flipV="false" rot="0">
              <a:off x="0" y="0"/>
              <a:ext cx="2533464" cy="137556"/>
            </a:xfrm>
            <a:custGeom>
              <a:avLst/>
              <a:gdLst/>
              <a:ahLst/>
              <a:cxnLst/>
              <a:rect r="r" b="b" t="t" l="l"/>
              <a:pathLst>
                <a:path h="137556" w="2533464">
                  <a:moveTo>
                    <a:pt x="0" y="0"/>
                  </a:moveTo>
                  <a:lnTo>
                    <a:pt x="2533464" y="0"/>
                  </a:lnTo>
                  <a:lnTo>
                    <a:pt x="2533464" y="137556"/>
                  </a:lnTo>
                  <a:lnTo>
                    <a:pt x="0" y="137556"/>
                  </a:lnTo>
                  <a:close/>
                </a:path>
              </a:pathLst>
            </a:custGeom>
            <a:solidFill>
              <a:srgbClr val="024CAA"/>
            </a:solidFill>
          </p:spPr>
        </p:sp>
        <p:sp>
          <p:nvSpPr>
            <p:cNvPr name="TextBox 14" id="14"/>
            <p:cNvSpPr txBox="true"/>
            <p:nvPr/>
          </p:nvSpPr>
          <p:spPr>
            <a:xfrm>
              <a:off x="0" y="-219075"/>
              <a:ext cx="2533464" cy="356631"/>
            </a:xfrm>
            <a:prstGeom prst="rect">
              <a:avLst/>
            </a:prstGeom>
          </p:spPr>
          <p:txBody>
            <a:bodyPr anchor="ctr" rtlCol="false" tIns="50800" lIns="50800" bIns="50800" rIns="50800"/>
            <a:lstStyle/>
            <a:p>
              <a:pPr algn="ctr">
                <a:lnSpc>
                  <a:spcPts val="5270"/>
                </a:lnSpc>
              </a:pPr>
            </a:p>
          </p:txBody>
        </p:sp>
      </p:grpSp>
      <p:sp>
        <p:nvSpPr>
          <p:cNvPr name="TextBox 15" id="15"/>
          <p:cNvSpPr txBox="true"/>
          <p:nvPr/>
        </p:nvSpPr>
        <p:spPr>
          <a:xfrm rot="0">
            <a:off x="8044457" y="1353802"/>
            <a:ext cx="7422185" cy="1509400"/>
          </a:xfrm>
          <a:prstGeom prst="rect">
            <a:avLst/>
          </a:prstGeom>
        </p:spPr>
        <p:txBody>
          <a:bodyPr anchor="t" rtlCol="false" tIns="0" lIns="0" bIns="0" rIns="0">
            <a:spAutoFit/>
          </a:bodyPr>
          <a:lstStyle/>
          <a:p>
            <a:pPr algn="l">
              <a:lnSpc>
                <a:spcPts val="12399"/>
              </a:lnSpc>
              <a:spcBef>
                <a:spcPct val="0"/>
              </a:spcBef>
            </a:pPr>
            <a:r>
              <a:rPr lang="en-US" b="true" sz="6199">
                <a:solidFill>
                  <a:srgbClr val="024CAA"/>
                </a:solidFill>
                <a:latin typeface="Helvetica World Bold"/>
                <a:ea typeface="Helvetica World Bold"/>
                <a:cs typeface="Helvetica World Bold"/>
                <a:sym typeface="Helvetica World Bold"/>
              </a:rPr>
              <a:t>TUJUAN PROJEK</a:t>
            </a:r>
          </a:p>
        </p:txBody>
      </p:sp>
      <p:sp>
        <p:nvSpPr>
          <p:cNvPr name="TextBox 16" id="16"/>
          <p:cNvSpPr txBox="true"/>
          <p:nvPr/>
        </p:nvSpPr>
        <p:spPr>
          <a:xfrm rot="0">
            <a:off x="7107164" y="4535720"/>
            <a:ext cx="9808700" cy="3804286"/>
          </a:xfrm>
          <a:prstGeom prst="rect">
            <a:avLst/>
          </a:prstGeom>
        </p:spPr>
        <p:txBody>
          <a:bodyPr anchor="t" rtlCol="false" tIns="0" lIns="0" bIns="0" rIns="0">
            <a:spAutoFit/>
          </a:bodyPr>
          <a:lstStyle/>
          <a:p>
            <a:pPr algn="just">
              <a:lnSpc>
                <a:spcPts val="5039"/>
              </a:lnSpc>
            </a:pPr>
            <a:r>
              <a:rPr lang="en-US" sz="3599">
                <a:solidFill>
                  <a:srgbClr val="091057"/>
                </a:solidFill>
                <a:latin typeface="Monda"/>
                <a:ea typeface="Monda"/>
                <a:cs typeface="Monda"/>
                <a:sym typeface="Monda"/>
              </a:rPr>
              <a:t>Tujuan dari tugas projek ini adalah menerapkan konsep bahasa Assembly x86, membuat aplikasi validasi NIM mahasiswa, melatih logika percabangan dan perulangan, serta menentukan status Mahasiswa Kelas C berdasarkan rentang NIM tertentu.</a:t>
            </a:r>
          </a:p>
        </p:txBody>
      </p:sp>
      <p:grpSp>
        <p:nvGrpSpPr>
          <p:cNvPr name="Group 17" id="17"/>
          <p:cNvGrpSpPr/>
          <p:nvPr/>
        </p:nvGrpSpPr>
        <p:grpSpPr>
          <a:xfrm rot="2621565">
            <a:off x="-7324577" y="7145566"/>
            <a:ext cx="13738659" cy="6282868"/>
            <a:chOff x="0" y="0"/>
            <a:chExt cx="3618412" cy="1654747"/>
          </a:xfrm>
        </p:grpSpPr>
        <p:sp>
          <p:nvSpPr>
            <p:cNvPr name="Freeform 18" id="18"/>
            <p:cNvSpPr/>
            <p:nvPr/>
          </p:nvSpPr>
          <p:spPr>
            <a:xfrm flipH="false" flipV="false" rot="0">
              <a:off x="0" y="0"/>
              <a:ext cx="3618412" cy="1654747"/>
            </a:xfrm>
            <a:custGeom>
              <a:avLst/>
              <a:gdLst/>
              <a:ahLst/>
              <a:cxnLst/>
              <a:rect r="r" b="b" t="t" l="l"/>
              <a:pathLst>
                <a:path h="1654747" w="3618412">
                  <a:moveTo>
                    <a:pt x="0" y="0"/>
                  </a:moveTo>
                  <a:lnTo>
                    <a:pt x="3618412" y="0"/>
                  </a:lnTo>
                  <a:lnTo>
                    <a:pt x="3618412" y="1654747"/>
                  </a:lnTo>
                  <a:lnTo>
                    <a:pt x="0" y="1654747"/>
                  </a:lnTo>
                  <a:close/>
                </a:path>
              </a:pathLst>
            </a:custGeom>
            <a:solidFill>
              <a:srgbClr val="091057"/>
            </a:solidFill>
          </p:spPr>
        </p:sp>
        <p:sp>
          <p:nvSpPr>
            <p:cNvPr name="TextBox 19" id="19"/>
            <p:cNvSpPr txBox="true"/>
            <p:nvPr/>
          </p:nvSpPr>
          <p:spPr>
            <a:xfrm>
              <a:off x="0" y="-47625"/>
              <a:ext cx="3618412" cy="1702372"/>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2621565">
            <a:off x="-6445647" y="7109737"/>
            <a:ext cx="19560257" cy="2460537"/>
            <a:chOff x="0" y="0"/>
            <a:chExt cx="5151673" cy="648043"/>
          </a:xfrm>
        </p:grpSpPr>
        <p:sp>
          <p:nvSpPr>
            <p:cNvPr name="Freeform 21" id="21"/>
            <p:cNvSpPr/>
            <p:nvPr/>
          </p:nvSpPr>
          <p:spPr>
            <a:xfrm flipH="false" flipV="false" rot="0">
              <a:off x="0" y="0"/>
              <a:ext cx="5151673" cy="648043"/>
            </a:xfrm>
            <a:custGeom>
              <a:avLst/>
              <a:gdLst/>
              <a:ahLst/>
              <a:cxnLst/>
              <a:rect r="r" b="b" t="t" l="l"/>
              <a:pathLst>
                <a:path h="648043" w="5151673">
                  <a:moveTo>
                    <a:pt x="0" y="0"/>
                  </a:moveTo>
                  <a:lnTo>
                    <a:pt x="5151673" y="0"/>
                  </a:lnTo>
                  <a:lnTo>
                    <a:pt x="5151673" y="648043"/>
                  </a:lnTo>
                  <a:lnTo>
                    <a:pt x="0" y="648043"/>
                  </a:lnTo>
                  <a:close/>
                </a:path>
              </a:pathLst>
            </a:custGeom>
            <a:solidFill>
              <a:srgbClr val="024CAA"/>
            </a:solidFill>
          </p:spPr>
        </p:sp>
        <p:sp>
          <p:nvSpPr>
            <p:cNvPr name="TextBox 22" id="22"/>
            <p:cNvSpPr txBox="true"/>
            <p:nvPr/>
          </p:nvSpPr>
          <p:spPr>
            <a:xfrm>
              <a:off x="0" y="-47625"/>
              <a:ext cx="5151673" cy="695668"/>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0" y="0"/>
            <a:ext cx="18288000" cy="1028700"/>
            <a:chOff x="0" y="0"/>
            <a:chExt cx="4816593" cy="270933"/>
          </a:xfrm>
        </p:grpSpPr>
        <p:sp>
          <p:nvSpPr>
            <p:cNvPr name="Freeform 4" id="4"/>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091057"/>
            </a:solidFill>
          </p:spPr>
        </p:sp>
        <p:sp>
          <p:nvSpPr>
            <p:cNvPr name="TextBox 5" id="5"/>
            <p:cNvSpPr txBox="true"/>
            <p:nvPr/>
          </p:nvSpPr>
          <p:spPr>
            <a:xfrm>
              <a:off x="0" y="-219075"/>
              <a:ext cx="4816593" cy="490008"/>
            </a:xfrm>
            <a:prstGeom prst="rect">
              <a:avLst/>
            </a:prstGeom>
          </p:spPr>
          <p:txBody>
            <a:bodyPr anchor="ctr" rtlCol="false" tIns="50800" lIns="50800" bIns="50800" rIns="50800"/>
            <a:lstStyle/>
            <a:p>
              <a:pPr algn="ctr">
                <a:lnSpc>
                  <a:spcPts val="5270"/>
                </a:lnSpc>
              </a:pPr>
            </a:p>
          </p:txBody>
        </p:sp>
      </p:grpSp>
      <p:grpSp>
        <p:nvGrpSpPr>
          <p:cNvPr name="Group 6" id="6"/>
          <p:cNvGrpSpPr/>
          <p:nvPr/>
        </p:nvGrpSpPr>
        <p:grpSpPr>
          <a:xfrm rot="0">
            <a:off x="10746043" y="224896"/>
            <a:ext cx="8303693" cy="803804"/>
            <a:chOff x="0" y="0"/>
            <a:chExt cx="2186981" cy="211701"/>
          </a:xfrm>
        </p:grpSpPr>
        <p:sp>
          <p:nvSpPr>
            <p:cNvPr name="Freeform 7" id="7"/>
            <p:cNvSpPr/>
            <p:nvPr/>
          </p:nvSpPr>
          <p:spPr>
            <a:xfrm flipH="false" flipV="false" rot="0">
              <a:off x="0" y="0"/>
              <a:ext cx="2186981" cy="211701"/>
            </a:xfrm>
            <a:custGeom>
              <a:avLst/>
              <a:gdLst/>
              <a:ahLst/>
              <a:cxnLst/>
              <a:rect r="r" b="b" t="t" l="l"/>
              <a:pathLst>
                <a:path h="211701" w="2186981">
                  <a:moveTo>
                    <a:pt x="203200" y="0"/>
                  </a:moveTo>
                  <a:lnTo>
                    <a:pt x="2186981" y="0"/>
                  </a:lnTo>
                  <a:lnTo>
                    <a:pt x="1983781" y="211701"/>
                  </a:lnTo>
                  <a:lnTo>
                    <a:pt x="0" y="211701"/>
                  </a:lnTo>
                  <a:lnTo>
                    <a:pt x="203200" y="0"/>
                  </a:lnTo>
                  <a:close/>
                </a:path>
              </a:pathLst>
            </a:custGeom>
            <a:solidFill>
              <a:srgbClr val="024CAA"/>
            </a:solidFill>
          </p:spPr>
        </p:sp>
        <p:sp>
          <p:nvSpPr>
            <p:cNvPr name="TextBox 8" id="8"/>
            <p:cNvSpPr txBox="true"/>
            <p:nvPr/>
          </p:nvSpPr>
          <p:spPr>
            <a:xfrm>
              <a:off x="101600" y="-219075"/>
              <a:ext cx="1983781" cy="430776"/>
            </a:xfrm>
            <a:prstGeom prst="rect">
              <a:avLst/>
            </a:prstGeom>
          </p:spPr>
          <p:txBody>
            <a:bodyPr anchor="ctr" rtlCol="false" tIns="50800" lIns="50800" bIns="50800" rIns="50800"/>
            <a:lstStyle/>
            <a:p>
              <a:pPr algn="ctr">
                <a:lnSpc>
                  <a:spcPts val="5270"/>
                </a:lnSpc>
              </a:pPr>
            </a:p>
          </p:txBody>
        </p:sp>
      </p:grpSp>
      <p:sp>
        <p:nvSpPr>
          <p:cNvPr name="TextBox 9" id="9"/>
          <p:cNvSpPr txBox="true"/>
          <p:nvPr/>
        </p:nvSpPr>
        <p:spPr>
          <a:xfrm rot="0">
            <a:off x="1028700" y="1170036"/>
            <a:ext cx="9020493" cy="1225550"/>
          </a:xfrm>
          <a:prstGeom prst="rect">
            <a:avLst/>
          </a:prstGeom>
        </p:spPr>
        <p:txBody>
          <a:bodyPr anchor="t" rtlCol="false" tIns="0" lIns="0" bIns="0" rIns="0">
            <a:spAutoFit/>
          </a:bodyPr>
          <a:lstStyle/>
          <a:p>
            <a:pPr algn="l">
              <a:lnSpc>
                <a:spcPts val="10000"/>
              </a:lnSpc>
              <a:spcBef>
                <a:spcPct val="0"/>
              </a:spcBef>
            </a:pPr>
            <a:r>
              <a:rPr lang="en-US" b="true" sz="5000">
                <a:solidFill>
                  <a:srgbClr val="024CAA"/>
                </a:solidFill>
                <a:latin typeface="Helvetica World Bold"/>
                <a:ea typeface="Helvetica World Bold"/>
                <a:cs typeface="Helvetica World Bold"/>
                <a:sym typeface="Helvetica World Bold"/>
              </a:rPr>
              <a:t>RUANG LINGKUP APLIKASI</a:t>
            </a:r>
          </a:p>
        </p:txBody>
      </p:sp>
      <p:sp>
        <p:nvSpPr>
          <p:cNvPr name="TextBox 10" id="10"/>
          <p:cNvSpPr txBox="true"/>
          <p:nvPr/>
        </p:nvSpPr>
        <p:spPr>
          <a:xfrm rot="0">
            <a:off x="1028700" y="3432222"/>
            <a:ext cx="11690985" cy="5025974"/>
          </a:xfrm>
          <a:prstGeom prst="rect">
            <a:avLst/>
          </a:prstGeom>
        </p:spPr>
        <p:txBody>
          <a:bodyPr anchor="t" rtlCol="false" tIns="0" lIns="0" bIns="0" rIns="0">
            <a:spAutoFit/>
          </a:bodyPr>
          <a:lstStyle/>
          <a:p>
            <a:pPr algn="just">
              <a:lnSpc>
                <a:spcPts val="5726"/>
              </a:lnSpc>
            </a:pPr>
            <a:r>
              <a:rPr lang="en-US" sz="4090">
                <a:solidFill>
                  <a:srgbClr val="024CAA"/>
                </a:solidFill>
                <a:latin typeface="Monda"/>
                <a:ea typeface="Monda"/>
                <a:cs typeface="Monda"/>
                <a:sym typeface="Monda"/>
              </a:rPr>
              <a:t>Aplikasi yang dibuat bersifat sederhana dan berbasis teks. Aplikasi menerima input NIM melalui keyboard, melakukan validasi panjang dan karakter NIM, mengecek rentang NIM Kelas C, serta menampilkan hasil validasi tanpa menggunakan database dan dijalankan melalui emulator DOS.</a:t>
            </a:r>
          </a:p>
        </p:txBody>
      </p:sp>
      <p:grpSp>
        <p:nvGrpSpPr>
          <p:cNvPr name="Group 11" id="11"/>
          <p:cNvGrpSpPr/>
          <p:nvPr/>
        </p:nvGrpSpPr>
        <p:grpSpPr>
          <a:xfrm rot="0">
            <a:off x="14897889" y="224896"/>
            <a:ext cx="3648341" cy="10287000"/>
            <a:chOff x="0" y="0"/>
            <a:chExt cx="960880" cy="2709333"/>
          </a:xfrm>
        </p:grpSpPr>
        <p:sp>
          <p:nvSpPr>
            <p:cNvPr name="Freeform 12" id="12"/>
            <p:cNvSpPr/>
            <p:nvPr/>
          </p:nvSpPr>
          <p:spPr>
            <a:xfrm flipH="false" flipV="false" rot="0">
              <a:off x="0" y="0"/>
              <a:ext cx="960880" cy="2709333"/>
            </a:xfrm>
            <a:custGeom>
              <a:avLst/>
              <a:gdLst/>
              <a:ahLst/>
              <a:cxnLst/>
              <a:rect r="r" b="b" t="t" l="l"/>
              <a:pathLst>
                <a:path h="2709333" w="960880">
                  <a:moveTo>
                    <a:pt x="0" y="0"/>
                  </a:moveTo>
                  <a:lnTo>
                    <a:pt x="960880" y="0"/>
                  </a:lnTo>
                  <a:lnTo>
                    <a:pt x="960880" y="2709333"/>
                  </a:lnTo>
                  <a:lnTo>
                    <a:pt x="0" y="2709333"/>
                  </a:lnTo>
                  <a:close/>
                </a:path>
              </a:pathLst>
            </a:custGeom>
            <a:solidFill>
              <a:srgbClr val="024CAA"/>
            </a:solidFill>
          </p:spPr>
        </p:sp>
        <p:sp>
          <p:nvSpPr>
            <p:cNvPr name="TextBox 13" id="13"/>
            <p:cNvSpPr txBox="true"/>
            <p:nvPr/>
          </p:nvSpPr>
          <p:spPr>
            <a:xfrm>
              <a:off x="0" y="-219075"/>
              <a:ext cx="960880" cy="2928408"/>
            </a:xfrm>
            <a:prstGeom prst="rect">
              <a:avLst/>
            </a:prstGeom>
          </p:spPr>
          <p:txBody>
            <a:bodyPr anchor="ctr" rtlCol="false" tIns="50800" lIns="50800" bIns="50800" rIns="50800"/>
            <a:lstStyle/>
            <a:p>
              <a:pPr algn="ctr">
                <a:lnSpc>
                  <a:spcPts val="5270"/>
                </a:lnSpc>
              </a:pPr>
            </a:p>
          </p:txBody>
        </p:sp>
      </p:grpSp>
      <p:grpSp>
        <p:nvGrpSpPr>
          <p:cNvPr name="Group 14" id="14"/>
          <p:cNvGrpSpPr/>
          <p:nvPr/>
        </p:nvGrpSpPr>
        <p:grpSpPr>
          <a:xfrm rot="-3253770">
            <a:off x="16970816" y="-4315751"/>
            <a:ext cx="1784529" cy="9885098"/>
            <a:chOff x="0" y="0"/>
            <a:chExt cx="469999" cy="2603483"/>
          </a:xfrm>
        </p:grpSpPr>
        <p:sp>
          <p:nvSpPr>
            <p:cNvPr name="Freeform 15" id="15"/>
            <p:cNvSpPr/>
            <p:nvPr/>
          </p:nvSpPr>
          <p:spPr>
            <a:xfrm flipH="false" flipV="false" rot="0">
              <a:off x="0" y="0"/>
              <a:ext cx="469999" cy="2603483"/>
            </a:xfrm>
            <a:custGeom>
              <a:avLst/>
              <a:gdLst/>
              <a:ahLst/>
              <a:cxnLst/>
              <a:rect r="r" b="b" t="t" l="l"/>
              <a:pathLst>
                <a:path h="2603483" w="469999">
                  <a:moveTo>
                    <a:pt x="0" y="0"/>
                  </a:moveTo>
                  <a:lnTo>
                    <a:pt x="469999" y="0"/>
                  </a:lnTo>
                  <a:lnTo>
                    <a:pt x="469999" y="2603483"/>
                  </a:lnTo>
                  <a:lnTo>
                    <a:pt x="0" y="2603483"/>
                  </a:lnTo>
                  <a:close/>
                </a:path>
              </a:pathLst>
            </a:custGeom>
            <a:solidFill>
              <a:srgbClr val="091057"/>
            </a:solidFill>
          </p:spPr>
        </p:sp>
        <p:sp>
          <p:nvSpPr>
            <p:cNvPr name="TextBox 16" id="16"/>
            <p:cNvSpPr txBox="true"/>
            <p:nvPr/>
          </p:nvSpPr>
          <p:spPr>
            <a:xfrm>
              <a:off x="0" y="-219075"/>
              <a:ext cx="469999" cy="2822558"/>
            </a:xfrm>
            <a:prstGeom prst="rect">
              <a:avLst/>
            </a:prstGeom>
          </p:spPr>
          <p:txBody>
            <a:bodyPr anchor="ctr" rtlCol="false" tIns="50800" lIns="50800" bIns="50800" rIns="50800"/>
            <a:lstStyle/>
            <a:p>
              <a:pPr algn="ctr">
                <a:lnSpc>
                  <a:spcPts val="5270"/>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0" y="0"/>
            <a:ext cx="18288000" cy="1028700"/>
            <a:chOff x="0" y="0"/>
            <a:chExt cx="4816593" cy="270933"/>
          </a:xfrm>
        </p:grpSpPr>
        <p:sp>
          <p:nvSpPr>
            <p:cNvPr name="Freeform 4" id="4"/>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091057"/>
            </a:solidFill>
          </p:spPr>
        </p:sp>
        <p:sp>
          <p:nvSpPr>
            <p:cNvPr name="TextBox 5" id="5"/>
            <p:cNvSpPr txBox="true"/>
            <p:nvPr/>
          </p:nvSpPr>
          <p:spPr>
            <a:xfrm>
              <a:off x="0" y="-219075"/>
              <a:ext cx="4816593" cy="490008"/>
            </a:xfrm>
            <a:prstGeom prst="rect">
              <a:avLst/>
            </a:prstGeom>
          </p:spPr>
          <p:txBody>
            <a:bodyPr anchor="ctr" rtlCol="false" tIns="50800" lIns="50800" bIns="50800" rIns="50800"/>
            <a:lstStyle/>
            <a:p>
              <a:pPr algn="ctr">
                <a:lnSpc>
                  <a:spcPts val="5270"/>
                </a:lnSpc>
              </a:pPr>
            </a:p>
          </p:txBody>
        </p:sp>
      </p:grpSp>
      <p:grpSp>
        <p:nvGrpSpPr>
          <p:cNvPr name="Group 6" id="6"/>
          <p:cNvGrpSpPr/>
          <p:nvPr/>
        </p:nvGrpSpPr>
        <p:grpSpPr>
          <a:xfrm rot="0">
            <a:off x="10746043" y="224896"/>
            <a:ext cx="8303693" cy="803804"/>
            <a:chOff x="0" y="0"/>
            <a:chExt cx="2186981" cy="211701"/>
          </a:xfrm>
        </p:grpSpPr>
        <p:sp>
          <p:nvSpPr>
            <p:cNvPr name="Freeform 7" id="7"/>
            <p:cNvSpPr/>
            <p:nvPr/>
          </p:nvSpPr>
          <p:spPr>
            <a:xfrm flipH="false" flipV="false" rot="0">
              <a:off x="0" y="0"/>
              <a:ext cx="2186981" cy="211701"/>
            </a:xfrm>
            <a:custGeom>
              <a:avLst/>
              <a:gdLst/>
              <a:ahLst/>
              <a:cxnLst/>
              <a:rect r="r" b="b" t="t" l="l"/>
              <a:pathLst>
                <a:path h="211701" w="2186981">
                  <a:moveTo>
                    <a:pt x="203200" y="0"/>
                  </a:moveTo>
                  <a:lnTo>
                    <a:pt x="2186981" y="0"/>
                  </a:lnTo>
                  <a:lnTo>
                    <a:pt x="1983781" y="211701"/>
                  </a:lnTo>
                  <a:lnTo>
                    <a:pt x="0" y="211701"/>
                  </a:lnTo>
                  <a:lnTo>
                    <a:pt x="203200" y="0"/>
                  </a:lnTo>
                  <a:close/>
                </a:path>
              </a:pathLst>
            </a:custGeom>
            <a:solidFill>
              <a:srgbClr val="024CAA"/>
            </a:solidFill>
          </p:spPr>
        </p:sp>
        <p:sp>
          <p:nvSpPr>
            <p:cNvPr name="TextBox 8" id="8"/>
            <p:cNvSpPr txBox="true"/>
            <p:nvPr/>
          </p:nvSpPr>
          <p:spPr>
            <a:xfrm>
              <a:off x="101600" y="-219075"/>
              <a:ext cx="1983781" cy="430776"/>
            </a:xfrm>
            <a:prstGeom prst="rect">
              <a:avLst/>
            </a:prstGeom>
          </p:spPr>
          <p:txBody>
            <a:bodyPr anchor="ctr" rtlCol="false" tIns="50800" lIns="50800" bIns="50800" rIns="50800"/>
            <a:lstStyle/>
            <a:p>
              <a:pPr algn="ctr">
                <a:lnSpc>
                  <a:spcPts val="5270"/>
                </a:lnSpc>
              </a:pPr>
            </a:p>
          </p:txBody>
        </p:sp>
      </p:grpSp>
      <p:grpSp>
        <p:nvGrpSpPr>
          <p:cNvPr name="Group 9" id="9"/>
          <p:cNvGrpSpPr/>
          <p:nvPr/>
        </p:nvGrpSpPr>
        <p:grpSpPr>
          <a:xfrm rot="0">
            <a:off x="1028700" y="2636766"/>
            <a:ext cx="15355903" cy="6148184"/>
            <a:chOff x="0" y="0"/>
            <a:chExt cx="4274726" cy="1711511"/>
          </a:xfrm>
        </p:grpSpPr>
        <p:sp>
          <p:nvSpPr>
            <p:cNvPr name="Freeform 10" id="10"/>
            <p:cNvSpPr/>
            <p:nvPr/>
          </p:nvSpPr>
          <p:spPr>
            <a:xfrm flipH="false" flipV="false" rot="0">
              <a:off x="0" y="0"/>
              <a:ext cx="4274726" cy="1711511"/>
            </a:xfrm>
            <a:custGeom>
              <a:avLst/>
              <a:gdLst/>
              <a:ahLst/>
              <a:cxnLst/>
              <a:rect r="r" b="b" t="t" l="l"/>
              <a:pathLst>
                <a:path h="1711511" w="4274726">
                  <a:moveTo>
                    <a:pt x="4114706" y="0"/>
                  </a:moveTo>
                  <a:lnTo>
                    <a:pt x="160020" y="0"/>
                  </a:lnTo>
                  <a:lnTo>
                    <a:pt x="0" y="160020"/>
                  </a:lnTo>
                  <a:lnTo>
                    <a:pt x="0" y="1551491"/>
                  </a:lnTo>
                  <a:lnTo>
                    <a:pt x="160020" y="1711511"/>
                  </a:lnTo>
                  <a:lnTo>
                    <a:pt x="4114706" y="1711511"/>
                  </a:lnTo>
                  <a:lnTo>
                    <a:pt x="4274726" y="1551491"/>
                  </a:lnTo>
                  <a:lnTo>
                    <a:pt x="4274726" y="160020"/>
                  </a:lnTo>
                  <a:lnTo>
                    <a:pt x="4114706" y="0"/>
                  </a:lnTo>
                  <a:close/>
                </a:path>
              </a:pathLst>
            </a:custGeom>
            <a:solidFill>
              <a:srgbClr val="024CAA"/>
            </a:solidFill>
          </p:spPr>
        </p:sp>
        <p:sp>
          <p:nvSpPr>
            <p:cNvPr name="TextBox 11" id="11"/>
            <p:cNvSpPr txBox="true"/>
            <p:nvPr/>
          </p:nvSpPr>
          <p:spPr>
            <a:xfrm>
              <a:off x="63500" y="-155575"/>
              <a:ext cx="4147726" cy="1803586"/>
            </a:xfrm>
            <a:prstGeom prst="rect">
              <a:avLst/>
            </a:prstGeom>
          </p:spPr>
          <p:txBody>
            <a:bodyPr anchor="ctr" rtlCol="false" tIns="50800" lIns="50800" bIns="50800" rIns="50800"/>
            <a:lstStyle/>
            <a:p>
              <a:pPr algn="ctr">
                <a:lnSpc>
                  <a:spcPts val="5270"/>
                </a:lnSpc>
              </a:pPr>
            </a:p>
          </p:txBody>
        </p:sp>
      </p:grpSp>
      <p:grpSp>
        <p:nvGrpSpPr>
          <p:cNvPr name="Group 12" id="12"/>
          <p:cNvGrpSpPr/>
          <p:nvPr/>
        </p:nvGrpSpPr>
        <p:grpSpPr>
          <a:xfrm rot="-2693858">
            <a:off x="15424850" y="9113633"/>
            <a:ext cx="4359231" cy="954029"/>
            <a:chOff x="0" y="0"/>
            <a:chExt cx="5151673" cy="1127457"/>
          </a:xfrm>
        </p:grpSpPr>
        <p:sp>
          <p:nvSpPr>
            <p:cNvPr name="Freeform 13" id="13"/>
            <p:cNvSpPr/>
            <p:nvPr/>
          </p:nvSpPr>
          <p:spPr>
            <a:xfrm flipH="false" flipV="false" rot="0">
              <a:off x="0" y="0"/>
              <a:ext cx="5151673" cy="1127457"/>
            </a:xfrm>
            <a:custGeom>
              <a:avLst/>
              <a:gdLst/>
              <a:ahLst/>
              <a:cxnLst/>
              <a:rect r="r" b="b" t="t" l="l"/>
              <a:pathLst>
                <a:path h="1127457" w="5151673">
                  <a:moveTo>
                    <a:pt x="0" y="0"/>
                  </a:moveTo>
                  <a:lnTo>
                    <a:pt x="5151673" y="0"/>
                  </a:lnTo>
                  <a:lnTo>
                    <a:pt x="5151673" y="1127457"/>
                  </a:lnTo>
                  <a:lnTo>
                    <a:pt x="0" y="1127457"/>
                  </a:lnTo>
                  <a:close/>
                </a:path>
              </a:pathLst>
            </a:custGeom>
            <a:solidFill>
              <a:srgbClr val="024CAA"/>
            </a:solidFill>
          </p:spPr>
        </p:sp>
        <p:sp>
          <p:nvSpPr>
            <p:cNvPr name="TextBox 14" id="14"/>
            <p:cNvSpPr txBox="true"/>
            <p:nvPr/>
          </p:nvSpPr>
          <p:spPr>
            <a:xfrm>
              <a:off x="0" y="-47625"/>
              <a:ext cx="5151673" cy="117508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2693858">
            <a:off x="16430465" y="9871538"/>
            <a:ext cx="3061820" cy="1631688"/>
            <a:chOff x="0" y="0"/>
            <a:chExt cx="3618412" cy="1928304"/>
          </a:xfrm>
        </p:grpSpPr>
        <p:sp>
          <p:nvSpPr>
            <p:cNvPr name="Freeform 16" id="16"/>
            <p:cNvSpPr/>
            <p:nvPr/>
          </p:nvSpPr>
          <p:spPr>
            <a:xfrm flipH="false" flipV="false" rot="0">
              <a:off x="0" y="0"/>
              <a:ext cx="3618412" cy="1928304"/>
            </a:xfrm>
            <a:custGeom>
              <a:avLst/>
              <a:gdLst/>
              <a:ahLst/>
              <a:cxnLst/>
              <a:rect r="r" b="b" t="t" l="l"/>
              <a:pathLst>
                <a:path h="1928304" w="3618412">
                  <a:moveTo>
                    <a:pt x="0" y="0"/>
                  </a:moveTo>
                  <a:lnTo>
                    <a:pt x="3618412" y="0"/>
                  </a:lnTo>
                  <a:lnTo>
                    <a:pt x="3618412" y="1928304"/>
                  </a:lnTo>
                  <a:lnTo>
                    <a:pt x="0" y="1928304"/>
                  </a:lnTo>
                  <a:close/>
                </a:path>
              </a:pathLst>
            </a:custGeom>
            <a:solidFill>
              <a:srgbClr val="091057"/>
            </a:solidFill>
          </p:spPr>
        </p:sp>
        <p:sp>
          <p:nvSpPr>
            <p:cNvPr name="TextBox 17" id="17"/>
            <p:cNvSpPr txBox="true"/>
            <p:nvPr/>
          </p:nvSpPr>
          <p:spPr>
            <a:xfrm>
              <a:off x="0" y="-47625"/>
              <a:ext cx="3618412" cy="1975929"/>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4627125" y="923095"/>
            <a:ext cx="7976696" cy="1381127"/>
          </a:xfrm>
          <a:prstGeom prst="rect">
            <a:avLst/>
          </a:prstGeom>
        </p:spPr>
        <p:txBody>
          <a:bodyPr anchor="t" rtlCol="false" tIns="0" lIns="0" bIns="0" rIns="0">
            <a:spAutoFit/>
          </a:bodyPr>
          <a:lstStyle/>
          <a:p>
            <a:pPr algn="l">
              <a:lnSpc>
                <a:spcPts val="11399"/>
              </a:lnSpc>
              <a:spcBef>
                <a:spcPct val="0"/>
              </a:spcBef>
            </a:pPr>
            <a:r>
              <a:rPr lang="en-US" b="true" sz="5699">
                <a:solidFill>
                  <a:srgbClr val="024CAA"/>
                </a:solidFill>
                <a:latin typeface="Helvetica World Bold"/>
                <a:ea typeface="Helvetica World Bold"/>
                <a:cs typeface="Helvetica World Bold"/>
                <a:sym typeface="Helvetica World Bold"/>
              </a:rPr>
              <a:t>ALUR PROGRAM</a:t>
            </a:r>
          </a:p>
        </p:txBody>
      </p:sp>
      <p:sp>
        <p:nvSpPr>
          <p:cNvPr name="TextBox 19" id="19"/>
          <p:cNvSpPr txBox="true"/>
          <p:nvPr/>
        </p:nvSpPr>
        <p:spPr>
          <a:xfrm rot="0">
            <a:off x="1507149" y="3062802"/>
            <a:ext cx="14216648" cy="4548506"/>
          </a:xfrm>
          <a:prstGeom prst="rect">
            <a:avLst/>
          </a:prstGeom>
        </p:spPr>
        <p:txBody>
          <a:bodyPr anchor="t" rtlCol="false" tIns="0" lIns="0" bIns="0" rIns="0">
            <a:spAutoFit/>
          </a:bodyPr>
          <a:lstStyle/>
          <a:p>
            <a:pPr algn="ctr">
              <a:lnSpc>
                <a:spcPts val="6019"/>
              </a:lnSpc>
            </a:pPr>
            <a:r>
              <a:rPr lang="en-US" sz="4299">
                <a:solidFill>
                  <a:srgbClr val="FFFFFF"/>
                </a:solidFill>
                <a:latin typeface="Monda"/>
                <a:ea typeface="Monda"/>
                <a:cs typeface="Monda"/>
                <a:sym typeface="Monda"/>
              </a:rPr>
              <a:t>Alur program dimulai dari menjalankan aplikasi, menampilkan judul, menerima input NIM, memvalidasi panjang dan karakter NIM, membandingkan NIM dengan batas Kelas C, menampilkan hasil validasi, serta menyediakan opsi untuk mengulang atau keluar dari program.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0" y="0"/>
            <a:ext cx="18563055" cy="1028700"/>
            <a:chOff x="0" y="0"/>
            <a:chExt cx="4889035" cy="270933"/>
          </a:xfrm>
        </p:grpSpPr>
        <p:sp>
          <p:nvSpPr>
            <p:cNvPr name="Freeform 4" id="4"/>
            <p:cNvSpPr/>
            <p:nvPr/>
          </p:nvSpPr>
          <p:spPr>
            <a:xfrm flipH="false" flipV="false" rot="0">
              <a:off x="0" y="0"/>
              <a:ext cx="4889035" cy="270933"/>
            </a:xfrm>
            <a:custGeom>
              <a:avLst/>
              <a:gdLst/>
              <a:ahLst/>
              <a:cxnLst/>
              <a:rect r="r" b="b" t="t" l="l"/>
              <a:pathLst>
                <a:path h="270933" w="4889035">
                  <a:moveTo>
                    <a:pt x="0" y="0"/>
                  </a:moveTo>
                  <a:lnTo>
                    <a:pt x="4889035" y="0"/>
                  </a:lnTo>
                  <a:lnTo>
                    <a:pt x="4889035" y="270933"/>
                  </a:lnTo>
                  <a:lnTo>
                    <a:pt x="0" y="270933"/>
                  </a:lnTo>
                  <a:close/>
                </a:path>
              </a:pathLst>
            </a:custGeom>
            <a:solidFill>
              <a:srgbClr val="091057"/>
            </a:solidFill>
          </p:spPr>
        </p:sp>
        <p:sp>
          <p:nvSpPr>
            <p:cNvPr name="TextBox 5" id="5"/>
            <p:cNvSpPr txBox="true"/>
            <p:nvPr/>
          </p:nvSpPr>
          <p:spPr>
            <a:xfrm>
              <a:off x="0" y="-219075"/>
              <a:ext cx="4889035" cy="490008"/>
            </a:xfrm>
            <a:prstGeom prst="rect">
              <a:avLst/>
            </a:prstGeom>
          </p:spPr>
          <p:txBody>
            <a:bodyPr anchor="ctr" rtlCol="false" tIns="50800" lIns="50800" bIns="50800" rIns="50800"/>
            <a:lstStyle/>
            <a:p>
              <a:pPr algn="ctr">
                <a:lnSpc>
                  <a:spcPts val="5270"/>
                </a:lnSpc>
              </a:pPr>
            </a:p>
          </p:txBody>
        </p:sp>
      </p:grpSp>
      <p:grpSp>
        <p:nvGrpSpPr>
          <p:cNvPr name="Group 6" id="6"/>
          <p:cNvGrpSpPr/>
          <p:nvPr/>
        </p:nvGrpSpPr>
        <p:grpSpPr>
          <a:xfrm rot="0">
            <a:off x="10746043" y="224896"/>
            <a:ext cx="8303693" cy="803804"/>
            <a:chOff x="0" y="0"/>
            <a:chExt cx="2186981" cy="211701"/>
          </a:xfrm>
        </p:grpSpPr>
        <p:sp>
          <p:nvSpPr>
            <p:cNvPr name="Freeform 7" id="7"/>
            <p:cNvSpPr/>
            <p:nvPr/>
          </p:nvSpPr>
          <p:spPr>
            <a:xfrm flipH="false" flipV="false" rot="0">
              <a:off x="0" y="0"/>
              <a:ext cx="2186981" cy="211701"/>
            </a:xfrm>
            <a:custGeom>
              <a:avLst/>
              <a:gdLst/>
              <a:ahLst/>
              <a:cxnLst/>
              <a:rect r="r" b="b" t="t" l="l"/>
              <a:pathLst>
                <a:path h="211701" w="2186981">
                  <a:moveTo>
                    <a:pt x="203200" y="0"/>
                  </a:moveTo>
                  <a:lnTo>
                    <a:pt x="2186981" y="0"/>
                  </a:lnTo>
                  <a:lnTo>
                    <a:pt x="1983781" y="211701"/>
                  </a:lnTo>
                  <a:lnTo>
                    <a:pt x="0" y="211701"/>
                  </a:lnTo>
                  <a:lnTo>
                    <a:pt x="203200" y="0"/>
                  </a:lnTo>
                  <a:close/>
                </a:path>
              </a:pathLst>
            </a:custGeom>
            <a:solidFill>
              <a:srgbClr val="024CAA"/>
            </a:solidFill>
          </p:spPr>
        </p:sp>
        <p:sp>
          <p:nvSpPr>
            <p:cNvPr name="TextBox 8" id="8"/>
            <p:cNvSpPr txBox="true"/>
            <p:nvPr/>
          </p:nvSpPr>
          <p:spPr>
            <a:xfrm>
              <a:off x="101600" y="-219075"/>
              <a:ext cx="1983781" cy="430776"/>
            </a:xfrm>
            <a:prstGeom prst="rect">
              <a:avLst/>
            </a:prstGeom>
          </p:spPr>
          <p:txBody>
            <a:bodyPr anchor="ctr" rtlCol="false" tIns="50800" lIns="50800" bIns="50800" rIns="50800"/>
            <a:lstStyle/>
            <a:p>
              <a:pPr algn="ctr">
                <a:lnSpc>
                  <a:spcPts val="5270"/>
                </a:lnSpc>
              </a:pPr>
            </a:p>
          </p:txBody>
        </p:sp>
      </p:grpSp>
      <p:grpSp>
        <p:nvGrpSpPr>
          <p:cNvPr name="Group 9" id="9"/>
          <p:cNvGrpSpPr/>
          <p:nvPr/>
        </p:nvGrpSpPr>
        <p:grpSpPr>
          <a:xfrm rot="0">
            <a:off x="1028700" y="2793768"/>
            <a:ext cx="9717343" cy="6464532"/>
            <a:chOff x="0" y="0"/>
            <a:chExt cx="3499146" cy="2327832"/>
          </a:xfrm>
        </p:grpSpPr>
        <p:sp>
          <p:nvSpPr>
            <p:cNvPr name="Freeform 10" id="10"/>
            <p:cNvSpPr/>
            <p:nvPr/>
          </p:nvSpPr>
          <p:spPr>
            <a:xfrm flipH="false" flipV="false" rot="0">
              <a:off x="0" y="0"/>
              <a:ext cx="3499146" cy="2327832"/>
            </a:xfrm>
            <a:custGeom>
              <a:avLst/>
              <a:gdLst/>
              <a:ahLst/>
              <a:cxnLst/>
              <a:rect r="r" b="b" t="t" l="l"/>
              <a:pathLst>
                <a:path h="2327832" w="3499146">
                  <a:moveTo>
                    <a:pt x="3339126" y="0"/>
                  </a:moveTo>
                  <a:lnTo>
                    <a:pt x="160020" y="0"/>
                  </a:lnTo>
                  <a:lnTo>
                    <a:pt x="0" y="160020"/>
                  </a:lnTo>
                  <a:lnTo>
                    <a:pt x="0" y="2167812"/>
                  </a:lnTo>
                  <a:lnTo>
                    <a:pt x="160020" y="2327832"/>
                  </a:lnTo>
                  <a:lnTo>
                    <a:pt x="3339126" y="2327832"/>
                  </a:lnTo>
                  <a:lnTo>
                    <a:pt x="3499146" y="2167812"/>
                  </a:lnTo>
                  <a:lnTo>
                    <a:pt x="3499146" y="160020"/>
                  </a:lnTo>
                  <a:lnTo>
                    <a:pt x="3339126" y="0"/>
                  </a:lnTo>
                  <a:close/>
                </a:path>
              </a:pathLst>
            </a:custGeom>
            <a:solidFill>
              <a:srgbClr val="024CAA"/>
            </a:solidFill>
          </p:spPr>
        </p:sp>
        <p:sp>
          <p:nvSpPr>
            <p:cNvPr name="TextBox 11" id="11"/>
            <p:cNvSpPr txBox="true"/>
            <p:nvPr/>
          </p:nvSpPr>
          <p:spPr>
            <a:xfrm>
              <a:off x="63500" y="-155575"/>
              <a:ext cx="3372146" cy="2419907"/>
            </a:xfrm>
            <a:prstGeom prst="rect">
              <a:avLst/>
            </a:prstGeom>
          </p:spPr>
          <p:txBody>
            <a:bodyPr anchor="ctr" rtlCol="false" tIns="50800" lIns="50800" bIns="50800" rIns="50800"/>
            <a:lstStyle/>
            <a:p>
              <a:pPr algn="ctr">
                <a:lnSpc>
                  <a:spcPts val="5270"/>
                </a:lnSpc>
              </a:pPr>
            </a:p>
          </p:txBody>
        </p:sp>
      </p:grpSp>
      <p:grpSp>
        <p:nvGrpSpPr>
          <p:cNvPr name="Group 12" id="12"/>
          <p:cNvGrpSpPr/>
          <p:nvPr/>
        </p:nvGrpSpPr>
        <p:grpSpPr>
          <a:xfrm rot="0">
            <a:off x="12012930" y="2522049"/>
            <a:ext cx="5246370" cy="6736251"/>
            <a:chOff x="0" y="0"/>
            <a:chExt cx="812800" cy="1043622"/>
          </a:xfrm>
        </p:grpSpPr>
        <p:sp>
          <p:nvSpPr>
            <p:cNvPr name="Freeform 13" id="13"/>
            <p:cNvSpPr/>
            <p:nvPr/>
          </p:nvSpPr>
          <p:spPr>
            <a:xfrm flipH="false" flipV="false" rot="0">
              <a:off x="0" y="0"/>
              <a:ext cx="812800" cy="1043622"/>
            </a:xfrm>
            <a:custGeom>
              <a:avLst/>
              <a:gdLst/>
              <a:ahLst/>
              <a:cxnLst/>
              <a:rect r="r" b="b" t="t" l="l"/>
              <a:pathLst>
                <a:path h="1043622" w="812800">
                  <a:moveTo>
                    <a:pt x="0" y="0"/>
                  </a:moveTo>
                  <a:lnTo>
                    <a:pt x="812800" y="0"/>
                  </a:lnTo>
                  <a:lnTo>
                    <a:pt x="812800" y="1043622"/>
                  </a:lnTo>
                  <a:lnTo>
                    <a:pt x="0" y="1043622"/>
                  </a:lnTo>
                  <a:close/>
                </a:path>
              </a:pathLst>
            </a:custGeom>
            <a:blipFill>
              <a:blip r:embed="rId3"/>
              <a:stretch>
                <a:fillRect l="0" t="-8411" r="0" b="-8411"/>
              </a:stretch>
            </a:blipFill>
          </p:spPr>
        </p:sp>
      </p:grpSp>
      <p:sp>
        <p:nvSpPr>
          <p:cNvPr name="TextBox 14" id="14"/>
          <p:cNvSpPr txBox="true"/>
          <p:nvPr/>
        </p:nvSpPr>
        <p:spPr>
          <a:xfrm rot="0">
            <a:off x="1028700" y="904038"/>
            <a:ext cx="10303065" cy="1225550"/>
          </a:xfrm>
          <a:prstGeom prst="rect">
            <a:avLst/>
          </a:prstGeom>
        </p:spPr>
        <p:txBody>
          <a:bodyPr anchor="t" rtlCol="false" tIns="0" lIns="0" bIns="0" rIns="0">
            <a:spAutoFit/>
          </a:bodyPr>
          <a:lstStyle/>
          <a:p>
            <a:pPr algn="l">
              <a:lnSpc>
                <a:spcPts val="10000"/>
              </a:lnSpc>
              <a:spcBef>
                <a:spcPct val="0"/>
              </a:spcBef>
            </a:pPr>
            <a:r>
              <a:rPr lang="en-US" b="true" sz="5000">
                <a:solidFill>
                  <a:srgbClr val="024CAA"/>
                </a:solidFill>
                <a:latin typeface="Helvetica World Bold"/>
                <a:ea typeface="Helvetica World Bold"/>
                <a:cs typeface="Helvetica World Bold"/>
                <a:sym typeface="Helvetica World Bold"/>
              </a:rPr>
              <a:t>DESAIN DAN PERANGCANGAN</a:t>
            </a:r>
          </a:p>
        </p:txBody>
      </p:sp>
      <p:sp>
        <p:nvSpPr>
          <p:cNvPr name="TextBox 15" id="15"/>
          <p:cNvSpPr txBox="true"/>
          <p:nvPr/>
        </p:nvSpPr>
        <p:spPr>
          <a:xfrm rot="0">
            <a:off x="1519695" y="2720111"/>
            <a:ext cx="8790986" cy="5919468"/>
          </a:xfrm>
          <a:prstGeom prst="rect">
            <a:avLst/>
          </a:prstGeom>
        </p:spPr>
        <p:txBody>
          <a:bodyPr anchor="t" rtlCol="false" tIns="0" lIns="0" bIns="0" rIns="0">
            <a:spAutoFit/>
          </a:bodyPr>
          <a:lstStyle/>
          <a:p>
            <a:pPr algn="l">
              <a:lnSpc>
                <a:spcPts val="6400"/>
              </a:lnSpc>
              <a:spcBef>
                <a:spcPct val="0"/>
              </a:spcBef>
            </a:pPr>
            <a:r>
              <a:rPr lang="en-US" b="true" sz="3200">
                <a:solidFill>
                  <a:srgbClr val="FFFFFF"/>
                </a:solidFill>
                <a:latin typeface="Helvetica World Bold"/>
                <a:ea typeface="Helvetica World Bold"/>
                <a:cs typeface="Helvetica World Bold"/>
                <a:sym typeface="Helvetica World Bold"/>
              </a:rPr>
              <a:t>Aplikasi dirancang menggunakan bahasa Assembly x86 dengan model memori SMALL. Program memanfaatkan interrupt DOS INT 21h untuk input dan output. Struktur program terdiri dari segment data, segment code, dan prosedur utama sebagai pengendali alur aplikasi.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0" y="0"/>
            <a:ext cx="18288000" cy="1028700"/>
            <a:chOff x="0" y="0"/>
            <a:chExt cx="4816593" cy="270933"/>
          </a:xfrm>
        </p:grpSpPr>
        <p:sp>
          <p:nvSpPr>
            <p:cNvPr name="Freeform 4" id="4"/>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091057"/>
            </a:solidFill>
          </p:spPr>
        </p:sp>
        <p:sp>
          <p:nvSpPr>
            <p:cNvPr name="TextBox 5" id="5"/>
            <p:cNvSpPr txBox="true"/>
            <p:nvPr/>
          </p:nvSpPr>
          <p:spPr>
            <a:xfrm>
              <a:off x="0" y="-219075"/>
              <a:ext cx="4816593" cy="490008"/>
            </a:xfrm>
            <a:prstGeom prst="rect">
              <a:avLst/>
            </a:prstGeom>
          </p:spPr>
          <p:txBody>
            <a:bodyPr anchor="ctr" rtlCol="false" tIns="50800" lIns="50800" bIns="50800" rIns="50800"/>
            <a:lstStyle/>
            <a:p>
              <a:pPr algn="ctr">
                <a:lnSpc>
                  <a:spcPts val="5270"/>
                </a:lnSpc>
              </a:pPr>
            </a:p>
          </p:txBody>
        </p:sp>
      </p:grpSp>
      <p:grpSp>
        <p:nvGrpSpPr>
          <p:cNvPr name="Group 6" id="6"/>
          <p:cNvGrpSpPr/>
          <p:nvPr/>
        </p:nvGrpSpPr>
        <p:grpSpPr>
          <a:xfrm rot="0">
            <a:off x="10746043" y="224896"/>
            <a:ext cx="8303693" cy="803804"/>
            <a:chOff x="0" y="0"/>
            <a:chExt cx="2186981" cy="211701"/>
          </a:xfrm>
        </p:grpSpPr>
        <p:sp>
          <p:nvSpPr>
            <p:cNvPr name="Freeform 7" id="7"/>
            <p:cNvSpPr/>
            <p:nvPr/>
          </p:nvSpPr>
          <p:spPr>
            <a:xfrm flipH="false" flipV="false" rot="0">
              <a:off x="0" y="0"/>
              <a:ext cx="2186981" cy="211701"/>
            </a:xfrm>
            <a:custGeom>
              <a:avLst/>
              <a:gdLst/>
              <a:ahLst/>
              <a:cxnLst/>
              <a:rect r="r" b="b" t="t" l="l"/>
              <a:pathLst>
                <a:path h="211701" w="2186981">
                  <a:moveTo>
                    <a:pt x="203200" y="0"/>
                  </a:moveTo>
                  <a:lnTo>
                    <a:pt x="2186981" y="0"/>
                  </a:lnTo>
                  <a:lnTo>
                    <a:pt x="1983781" y="211701"/>
                  </a:lnTo>
                  <a:lnTo>
                    <a:pt x="0" y="211701"/>
                  </a:lnTo>
                  <a:lnTo>
                    <a:pt x="203200" y="0"/>
                  </a:lnTo>
                  <a:close/>
                </a:path>
              </a:pathLst>
            </a:custGeom>
            <a:solidFill>
              <a:srgbClr val="024CAA"/>
            </a:solidFill>
          </p:spPr>
        </p:sp>
        <p:sp>
          <p:nvSpPr>
            <p:cNvPr name="TextBox 8" id="8"/>
            <p:cNvSpPr txBox="true"/>
            <p:nvPr/>
          </p:nvSpPr>
          <p:spPr>
            <a:xfrm>
              <a:off x="101600" y="-219075"/>
              <a:ext cx="1983781" cy="430776"/>
            </a:xfrm>
            <a:prstGeom prst="rect">
              <a:avLst/>
            </a:prstGeom>
          </p:spPr>
          <p:txBody>
            <a:bodyPr anchor="ctr" rtlCol="false" tIns="50800" lIns="50800" bIns="50800" rIns="50800"/>
            <a:lstStyle/>
            <a:p>
              <a:pPr algn="ctr">
                <a:lnSpc>
                  <a:spcPts val="5270"/>
                </a:lnSpc>
              </a:pPr>
            </a:p>
          </p:txBody>
        </p:sp>
      </p:grpSp>
      <p:grpSp>
        <p:nvGrpSpPr>
          <p:cNvPr name="Group 9" id="9"/>
          <p:cNvGrpSpPr/>
          <p:nvPr/>
        </p:nvGrpSpPr>
        <p:grpSpPr>
          <a:xfrm rot="0">
            <a:off x="2602785" y="1650994"/>
            <a:ext cx="6009305" cy="7939653"/>
            <a:chOff x="0" y="0"/>
            <a:chExt cx="1358541" cy="1794941"/>
          </a:xfrm>
        </p:grpSpPr>
        <p:sp>
          <p:nvSpPr>
            <p:cNvPr name="Freeform 10" id="10"/>
            <p:cNvSpPr/>
            <p:nvPr/>
          </p:nvSpPr>
          <p:spPr>
            <a:xfrm flipH="false" flipV="false" rot="0">
              <a:off x="0" y="0"/>
              <a:ext cx="1358541" cy="1794941"/>
            </a:xfrm>
            <a:custGeom>
              <a:avLst/>
              <a:gdLst/>
              <a:ahLst/>
              <a:cxnLst/>
              <a:rect r="r" b="b" t="t" l="l"/>
              <a:pathLst>
                <a:path h="1794941" w="1358541">
                  <a:moveTo>
                    <a:pt x="1198521" y="0"/>
                  </a:moveTo>
                  <a:lnTo>
                    <a:pt x="160020" y="0"/>
                  </a:lnTo>
                  <a:lnTo>
                    <a:pt x="0" y="160020"/>
                  </a:lnTo>
                  <a:lnTo>
                    <a:pt x="0" y="1634921"/>
                  </a:lnTo>
                  <a:lnTo>
                    <a:pt x="160020" y="1794941"/>
                  </a:lnTo>
                  <a:lnTo>
                    <a:pt x="1198521" y="1794941"/>
                  </a:lnTo>
                  <a:lnTo>
                    <a:pt x="1358541" y="1634921"/>
                  </a:lnTo>
                  <a:lnTo>
                    <a:pt x="1358541" y="160020"/>
                  </a:lnTo>
                  <a:lnTo>
                    <a:pt x="1198521" y="0"/>
                  </a:lnTo>
                  <a:close/>
                </a:path>
              </a:pathLst>
            </a:custGeom>
            <a:solidFill>
              <a:srgbClr val="024CAA"/>
            </a:solidFill>
          </p:spPr>
        </p:sp>
        <p:sp>
          <p:nvSpPr>
            <p:cNvPr name="TextBox 11" id="11"/>
            <p:cNvSpPr txBox="true"/>
            <p:nvPr/>
          </p:nvSpPr>
          <p:spPr>
            <a:xfrm>
              <a:off x="63500" y="-155575"/>
              <a:ext cx="1231541" cy="1887016"/>
            </a:xfrm>
            <a:prstGeom prst="rect">
              <a:avLst/>
            </a:prstGeom>
          </p:spPr>
          <p:txBody>
            <a:bodyPr anchor="ctr" rtlCol="false" tIns="50800" lIns="50800" bIns="50800" rIns="50800"/>
            <a:lstStyle/>
            <a:p>
              <a:pPr algn="ctr">
                <a:lnSpc>
                  <a:spcPts val="5270"/>
                </a:lnSpc>
              </a:pPr>
            </a:p>
          </p:txBody>
        </p:sp>
      </p:grpSp>
      <p:grpSp>
        <p:nvGrpSpPr>
          <p:cNvPr name="Group 12" id="12"/>
          <p:cNvGrpSpPr/>
          <p:nvPr/>
        </p:nvGrpSpPr>
        <p:grpSpPr>
          <a:xfrm rot="-2693858">
            <a:off x="15424850" y="9113633"/>
            <a:ext cx="4359231" cy="954029"/>
            <a:chOff x="0" y="0"/>
            <a:chExt cx="5151673" cy="1127457"/>
          </a:xfrm>
        </p:grpSpPr>
        <p:sp>
          <p:nvSpPr>
            <p:cNvPr name="Freeform 13" id="13"/>
            <p:cNvSpPr/>
            <p:nvPr/>
          </p:nvSpPr>
          <p:spPr>
            <a:xfrm flipH="false" flipV="false" rot="0">
              <a:off x="0" y="0"/>
              <a:ext cx="5151673" cy="1127457"/>
            </a:xfrm>
            <a:custGeom>
              <a:avLst/>
              <a:gdLst/>
              <a:ahLst/>
              <a:cxnLst/>
              <a:rect r="r" b="b" t="t" l="l"/>
              <a:pathLst>
                <a:path h="1127457" w="5151673">
                  <a:moveTo>
                    <a:pt x="0" y="0"/>
                  </a:moveTo>
                  <a:lnTo>
                    <a:pt x="5151673" y="0"/>
                  </a:lnTo>
                  <a:lnTo>
                    <a:pt x="5151673" y="1127457"/>
                  </a:lnTo>
                  <a:lnTo>
                    <a:pt x="0" y="1127457"/>
                  </a:lnTo>
                  <a:close/>
                </a:path>
              </a:pathLst>
            </a:custGeom>
            <a:solidFill>
              <a:srgbClr val="024CAA"/>
            </a:solidFill>
          </p:spPr>
        </p:sp>
        <p:sp>
          <p:nvSpPr>
            <p:cNvPr name="TextBox 14" id="14"/>
            <p:cNvSpPr txBox="true"/>
            <p:nvPr/>
          </p:nvSpPr>
          <p:spPr>
            <a:xfrm>
              <a:off x="0" y="-47625"/>
              <a:ext cx="5151673" cy="117508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2693858">
            <a:off x="16430465" y="9871538"/>
            <a:ext cx="3061820" cy="1631688"/>
            <a:chOff x="0" y="0"/>
            <a:chExt cx="3618412" cy="1928304"/>
          </a:xfrm>
        </p:grpSpPr>
        <p:sp>
          <p:nvSpPr>
            <p:cNvPr name="Freeform 16" id="16"/>
            <p:cNvSpPr/>
            <p:nvPr/>
          </p:nvSpPr>
          <p:spPr>
            <a:xfrm flipH="false" flipV="false" rot="0">
              <a:off x="0" y="0"/>
              <a:ext cx="3618412" cy="1928304"/>
            </a:xfrm>
            <a:custGeom>
              <a:avLst/>
              <a:gdLst/>
              <a:ahLst/>
              <a:cxnLst/>
              <a:rect r="r" b="b" t="t" l="l"/>
              <a:pathLst>
                <a:path h="1928304" w="3618412">
                  <a:moveTo>
                    <a:pt x="0" y="0"/>
                  </a:moveTo>
                  <a:lnTo>
                    <a:pt x="3618412" y="0"/>
                  </a:lnTo>
                  <a:lnTo>
                    <a:pt x="3618412" y="1928304"/>
                  </a:lnTo>
                  <a:lnTo>
                    <a:pt x="0" y="1928304"/>
                  </a:lnTo>
                  <a:close/>
                </a:path>
              </a:pathLst>
            </a:custGeom>
            <a:solidFill>
              <a:srgbClr val="091057"/>
            </a:solidFill>
          </p:spPr>
        </p:sp>
        <p:sp>
          <p:nvSpPr>
            <p:cNvPr name="TextBox 17" id="17"/>
            <p:cNvSpPr txBox="true"/>
            <p:nvPr/>
          </p:nvSpPr>
          <p:spPr>
            <a:xfrm>
              <a:off x="0" y="-47625"/>
              <a:ext cx="3618412" cy="1975929"/>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9281732" y="1650994"/>
            <a:ext cx="6121075" cy="8087327"/>
            <a:chOff x="0" y="0"/>
            <a:chExt cx="1358541" cy="1794941"/>
          </a:xfrm>
        </p:grpSpPr>
        <p:sp>
          <p:nvSpPr>
            <p:cNvPr name="Freeform 19" id="19"/>
            <p:cNvSpPr/>
            <p:nvPr/>
          </p:nvSpPr>
          <p:spPr>
            <a:xfrm flipH="false" flipV="false" rot="0">
              <a:off x="0" y="0"/>
              <a:ext cx="1358541" cy="1794941"/>
            </a:xfrm>
            <a:custGeom>
              <a:avLst/>
              <a:gdLst/>
              <a:ahLst/>
              <a:cxnLst/>
              <a:rect r="r" b="b" t="t" l="l"/>
              <a:pathLst>
                <a:path h="1794941" w="1358541">
                  <a:moveTo>
                    <a:pt x="1198521" y="0"/>
                  </a:moveTo>
                  <a:lnTo>
                    <a:pt x="160020" y="0"/>
                  </a:lnTo>
                  <a:lnTo>
                    <a:pt x="0" y="160020"/>
                  </a:lnTo>
                  <a:lnTo>
                    <a:pt x="0" y="1634921"/>
                  </a:lnTo>
                  <a:lnTo>
                    <a:pt x="160020" y="1794941"/>
                  </a:lnTo>
                  <a:lnTo>
                    <a:pt x="1198521" y="1794941"/>
                  </a:lnTo>
                  <a:lnTo>
                    <a:pt x="1358541" y="1634921"/>
                  </a:lnTo>
                  <a:lnTo>
                    <a:pt x="1358541" y="160020"/>
                  </a:lnTo>
                  <a:lnTo>
                    <a:pt x="1198521" y="0"/>
                  </a:lnTo>
                  <a:close/>
                </a:path>
              </a:pathLst>
            </a:custGeom>
            <a:solidFill>
              <a:srgbClr val="024CAA"/>
            </a:solidFill>
          </p:spPr>
        </p:sp>
        <p:sp>
          <p:nvSpPr>
            <p:cNvPr name="TextBox 20" id="20"/>
            <p:cNvSpPr txBox="true"/>
            <p:nvPr/>
          </p:nvSpPr>
          <p:spPr>
            <a:xfrm>
              <a:off x="63500" y="-155575"/>
              <a:ext cx="1231541" cy="1887016"/>
            </a:xfrm>
            <a:prstGeom prst="rect">
              <a:avLst/>
            </a:prstGeom>
          </p:spPr>
          <p:txBody>
            <a:bodyPr anchor="ctr" rtlCol="false" tIns="50800" lIns="50800" bIns="50800" rIns="50800"/>
            <a:lstStyle/>
            <a:p>
              <a:pPr algn="ctr">
                <a:lnSpc>
                  <a:spcPts val="5270"/>
                </a:lnSpc>
              </a:pPr>
            </a:p>
          </p:txBody>
        </p:sp>
      </p:grpSp>
      <p:sp>
        <p:nvSpPr>
          <p:cNvPr name="TextBox 21" id="21"/>
          <p:cNvSpPr txBox="true"/>
          <p:nvPr/>
        </p:nvSpPr>
        <p:spPr>
          <a:xfrm rot="0">
            <a:off x="3655444" y="1750436"/>
            <a:ext cx="3903985" cy="827083"/>
          </a:xfrm>
          <a:prstGeom prst="rect">
            <a:avLst/>
          </a:prstGeom>
        </p:spPr>
        <p:txBody>
          <a:bodyPr anchor="t" rtlCol="false" tIns="0" lIns="0" bIns="0" rIns="0">
            <a:spAutoFit/>
          </a:bodyPr>
          <a:lstStyle/>
          <a:p>
            <a:pPr algn="ctr">
              <a:lnSpc>
                <a:spcPts val="6876"/>
              </a:lnSpc>
              <a:spcBef>
                <a:spcPct val="0"/>
              </a:spcBef>
            </a:pPr>
            <a:r>
              <a:rPr lang="en-US" b="true" sz="3438">
                <a:solidFill>
                  <a:srgbClr val="FFFFFF"/>
                </a:solidFill>
                <a:latin typeface="Helvetica World Bold"/>
                <a:ea typeface="Helvetica World Bold"/>
                <a:cs typeface="Helvetica World Bold"/>
                <a:sym typeface="Helvetica World Bold"/>
              </a:rPr>
              <a:t>FITUR APLIKASI</a:t>
            </a:r>
          </a:p>
        </p:txBody>
      </p:sp>
      <p:sp>
        <p:nvSpPr>
          <p:cNvPr name="TextBox 22" id="22"/>
          <p:cNvSpPr txBox="true"/>
          <p:nvPr/>
        </p:nvSpPr>
        <p:spPr>
          <a:xfrm rot="0">
            <a:off x="9950098" y="1712500"/>
            <a:ext cx="4947791" cy="865019"/>
          </a:xfrm>
          <a:prstGeom prst="rect">
            <a:avLst/>
          </a:prstGeom>
        </p:spPr>
        <p:txBody>
          <a:bodyPr anchor="t" rtlCol="false" tIns="0" lIns="0" bIns="0" rIns="0">
            <a:spAutoFit/>
          </a:bodyPr>
          <a:lstStyle/>
          <a:p>
            <a:pPr algn="ctr">
              <a:lnSpc>
                <a:spcPts val="7108"/>
              </a:lnSpc>
              <a:spcBef>
                <a:spcPct val="0"/>
              </a:spcBef>
            </a:pPr>
            <a:r>
              <a:rPr lang="en-US" b="true" sz="3554">
                <a:solidFill>
                  <a:srgbClr val="FFFFFF"/>
                </a:solidFill>
                <a:latin typeface="Helvetica World Bold"/>
                <a:ea typeface="Helvetica World Bold"/>
                <a:cs typeface="Helvetica World Bold"/>
                <a:sym typeface="Helvetica World Bold"/>
              </a:rPr>
              <a:t>HASIL PENGJUIAN</a:t>
            </a:r>
          </a:p>
        </p:txBody>
      </p:sp>
      <p:sp>
        <p:nvSpPr>
          <p:cNvPr name="TextBox 23" id="23"/>
          <p:cNvSpPr txBox="true"/>
          <p:nvPr/>
        </p:nvSpPr>
        <p:spPr>
          <a:xfrm rot="0">
            <a:off x="2809046" y="3510969"/>
            <a:ext cx="5596781" cy="4555450"/>
          </a:xfrm>
          <a:prstGeom prst="rect">
            <a:avLst/>
          </a:prstGeom>
        </p:spPr>
        <p:txBody>
          <a:bodyPr anchor="t" rtlCol="false" tIns="0" lIns="0" bIns="0" rIns="0">
            <a:spAutoFit/>
          </a:bodyPr>
          <a:lstStyle/>
          <a:p>
            <a:pPr algn="ctr">
              <a:lnSpc>
                <a:spcPts val="4072"/>
              </a:lnSpc>
            </a:pPr>
            <a:r>
              <a:rPr lang="en-US" sz="2909">
                <a:solidFill>
                  <a:srgbClr val="FFFFFF"/>
                </a:solidFill>
                <a:latin typeface="Monda"/>
                <a:ea typeface="Monda"/>
                <a:cs typeface="Monda"/>
                <a:sym typeface="Monda"/>
              </a:rPr>
              <a:t>Aplikasi memiliki fitur input NIM, validasi panjang NIM sebanyak sepuluh digit, validasi karakter numerik, pengecekan rentang NIM Mahasiswa Kelas C, penampilan hasil validasi, serta fitur pengulangan dan keluar aplikasi.</a:t>
            </a:r>
          </a:p>
        </p:txBody>
      </p:sp>
      <p:sp>
        <p:nvSpPr>
          <p:cNvPr name="TextBox 24" id="24"/>
          <p:cNvSpPr txBox="true"/>
          <p:nvPr/>
        </p:nvSpPr>
        <p:spPr>
          <a:xfrm rot="0">
            <a:off x="9512434" y="3510969"/>
            <a:ext cx="5823120" cy="4737365"/>
          </a:xfrm>
          <a:prstGeom prst="rect">
            <a:avLst/>
          </a:prstGeom>
        </p:spPr>
        <p:txBody>
          <a:bodyPr anchor="t" rtlCol="false" tIns="0" lIns="0" bIns="0" rIns="0">
            <a:spAutoFit/>
          </a:bodyPr>
          <a:lstStyle/>
          <a:p>
            <a:pPr algn="ctr">
              <a:lnSpc>
                <a:spcPts val="4237"/>
              </a:lnSpc>
            </a:pPr>
            <a:r>
              <a:rPr lang="en-US" sz="3026">
                <a:solidFill>
                  <a:srgbClr val="FFFFFF"/>
                </a:solidFill>
                <a:latin typeface="Monda"/>
                <a:ea typeface="Monda"/>
                <a:cs typeface="Monda"/>
                <a:sym typeface="Monda"/>
              </a:rPr>
              <a:t>Berdasarkan pengujian yang dilakukan, aplikasi mampu memvalidasi NIM dengan benar sesuai ketentuan. Program dapat membedakan NIM yang valid dan tidak valid serta menentukan status Mahasiswa Kelas C dengan tepat.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0" y="0"/>
            <a:ext cx="18563055" cy="1028700"/>
            <a:chOff x="0" y="0"/>
            <a:chExt cx="4889035" cy="270933"/>
          </a:xfrm>
        </p:grpSpPr>
        <p:sp>
          <p:nvSpPr>
            <p:cNvPr name="Freeform 4" id="4"/>
            <p:cNvSpPr/>
            <p:nvPr/>
          </p:nvSpPr>
          <p:spPr>
            <a:xfrm flipH="false" flipV="false" rot="0">
              <a:off x="0" y="0"/>
              <a:ext cx="4889035" cy="270933"/>
            </a:xfrm>
            <a:custGeom>
              <a:avLst/>
              <a:gdLst/>
              <a:ahLst/>
              <a:cxnLst/>
              <a:rect r="r" b="b" t="t" l="l"/>
              <a:pathLst>
                <a:path h="270933" w="4889035">
                  <a:moveTo>
                    <a:pt x="0" y="0"/>
                  </a:moveTo>
                  <a:lnTo>
                    <a:pt x="4889035" y="0"/>
                  </a:lnTo>
                  <a:lnTo>
                    <a:pt x="4889035" y="270933"/>
                  </a:lnTo>
                  <a:lnTo>
                    <a:pt x="0" y="270933"/>
                  </a:lnTo>
                  <a:close/>
                </a:path>
              </a:pathLst>
            </a:custGeom>
            <a:solidFill>
              <a:srgbClr val="091057"/>
            </a:solidFill>
          </p:spPr>
        </p:sp>
        <p:sp>
          <p:nvSpPr>
            <p:cNvPr name="TextBox 5" id="5"/>
            <p:cNvSpPr txBox="true"/>
            <p:nvPr/>
          </p:nvSpPr>
          <p:spPr>
            <a:xfrm>
              <a:off x="0" y="-219075"/>
              <a:ext cx="4889035" cy="490008"/>
            </a:xfrm>
            <a:prstGeom prst="rect">
              <a:avLst/>
            </a:prstGeom>
          </p:spPr>
          <p:txBody>
            <a:bodyPr anchor="ctr" rtlCol="false" tIns="50800" lIns="50800" bIns="50800" rIns="50800"/>
            <a:lstStyle/>
            <a:p>
              <a:pPr algn="ctr">
                <a:lnSpc>
                  <a:spcPts val="5270"/>
                </a:lnSpc>
              </a:pPr>
            </a:p>
          </p:txBody>
        </p:sp>
      </p:grpSp>
      <p:grpSp>
        <p:nvGrpSpPr>
          <p:cNvPr name="Group 6" id="6"/>
          <p:cNvGrpSpPr/>
          <p:nvPr/>
        </p:nvGrpSpPr>
        <p:grpSpPr>
          <a:xfrm rot="0">
            <a:off x="10746043" y="224896"/>
            <a:ext cx="8303693" cy="803804"/>
            <a:chOff x="0" y="0"/>
            <a:chExt cx="2186981" cy="211701"/>
          </a:xfrm>
        </p:grpSpPr>
        <p:sp>
          <p:nvSpPr>
            <p:cNvPr name="Freeform 7" id="7"/>
            <p:cNvSpPr/>
            <p:nvPr/>
          </p:nvSpPr>
          <p:spPr>
            <a:xfrm flipH="false" flipV="false" rot="0">
              <a:off x="0" y="0"/>
              <a:ext cx="2186981" cy="211701"/>
            </a:xfrm>
            <a:custGeom>
              <a:avLst/>
              <a:gdLst/>
              <a:ahLst/>
              <a:cxnLst/>
              <a:rect r="r" b="b" t="t" l="l"/>
              <a:pathLst>
                <a:path h="211701" w="2186981">
                  <a:moveTo>
                    <a:pt x="203200" y="0"/>
                  </a:moveTo>
                  <a:lnTo>
                    <a:pt x="2186981" y="0"/>
                  </a:lnTo>
                  <a:lnTo>
                    <a:pt x="1983781" y="211701"/>
                  </a:lnTo>
                  <a:lnTo>
                    <a:pt x="0" y="211701"/>
                  </a:lnTo>
                  <a:lnTo>
                    <a:pt x="203200" y="0"/>
                  </a:lnTo>
                  <a:close/>
                </a:path>
              </a:pathLst>
            </a:custGeom>
            <a:solidFill>
              <a:srgbClr val="024CAA"/>
            </a:solidFill>
          </p:spPr>
        </p:sp>
        <p:sp>
          <p:nvSpPr>
            <p:cNvPr name="TextBox 8" id="8"/>
            <p:cNvSpPr txBox="true"/>
            <p:nvPr/>
          </p:nvSpPr>
          <p:spPr>
            <a:xfrm>
              <a:off x="101600" y="-219075"/>
              <a:ext cx="1983781" cy="430776"/>
            </a:xfrm>
            <a:prstGeom prst="rect">
              <a:avLst/>
            </a:prstGeom>
          </p:spPr>
          <p:txBody>
            <a:bodyPr anchor="ctr" rtlCol="false" tIns="50800" lIns="50800" bIns="50800" rIns="50800"/>
            <a:lstStyle/>
            <a:p>
              <a:pPr algn="ctr">
                <a:lnSpc>
                  <a:spcPts val="5270"/>
                </a:lnSpc>
              </a:pPr>
            </a:p>
          </p:txBody>
        </p:sp>
      </p:grpSp>
      <p:grpSp>
        <p:nvGrpSpPr>
          <p:cNvPr name="Group 9" id="9"/>
          <p:cNvGrpSpPr/>
          <p:nvPr/>
        </p:nvGrpSpPr>
        <p:grpSpPr>
          <a:xfrm rot="0">
            <a:off x="4580880" y="2822298"/>
            <a:ext cx="9401295" cy="6625258"/>
            <a:chOff x="0" y="0"/>
            <a:chExt cx="2004692" cy="1412742"/>
          </a:xfrm>
        </p:grpSpPr>
        <p:sp>
          <p:nvSpPr>
            <p:cNvPr name="Freeform 10" id="10"/>
            <p:cNvSpPr/>
            <p:nvPr/>
          </p:nvSpPr>
          <p:spPr>
            <a:xfrm flipH="false" flipV="false" rot="0">
              <a:off x="0" y="0"/>
              <a:ext cx="2004692" cy="1412742"/>
            </a:xfrm>
            <a:custGeom>
              <a:avLst/>
              <a:gdLst/>
              <a:ahLst/>
              <a:cxnLst/>
              <a:rect r="r" b="b" t="t" l="l"/>
              <a:pathLst>
                <a:path h="1412742" w="2004692">
                  <a:moveTo>
                    <a:pt x="1844672" y="0"/>
                  </a:moveTo>
                  <a:lnTo>
                    <a:pt x="160020" y="0"/>
                  </a:lnTo>
                  <a:lnTo>
                    <a:pt x="0" y="160020"/>
                  </a:lnTo>
                  <a:lnTo>
                    <a:pt x="0" y="1252722"/>
                  </a:lnTo>
                  <a:lnTo>
                    <a:pt x="160020" y="1412742"/>
                  </a:lnTo>
                  <a:lnTo>
                    <a:pt x="1844672" y="1412742"/>
                  </a:lnTo>
                  <a:lnTo>
                    <a:pt x="2004692" y="1252722"/>
                  </a:lnTo>
                  <a:lnTo>
                    <a:pt x="2004692" y="160020"/>
                  </a:lnTo>
                  <a:lnTo>
                    <a:pt x="1844672" y="0"/>
                  </a:lnTo>
                  <a:close/>
                </a:path>
              </a:pathLst>
            </a:custGeom>
            <a:solidFill>
              <a:srgbClr val="024CAA"/>
            </a:solidFill>
          </p:spPr>
        </p:sp>
        <p:sp>
          <p:nvSpPr>
            <p:cNvPr name="TextBox 11" id="11"/>
            <p:cNvSpPr txBox="true"/>
            <p:nvPr/>
          </p:nvSpPr>
          <p:spPr>
            <a:xfrm>
              <a:off x="63500" y="-155575"/>
              <a:ext cx="1877692" cy="1504817"/>
            </a:xfrm>
            <a:prstGeom prst="rect">
              <a:avLst/>
            </a:prstGeom>
          </p:spPr>
          <p:txBody>
            <a:bodyPr anchor="ctr" rtlCol="false" tIns="50800" lIns="50800" bIns="50800" rIns="50800"/>
            <a:lstStyle/>
            <a:p>
              <a:pPr algn="ctr">
                <a:lnSpc>
                  <a:spcPts val="5270"/>
                </a:lnSpc>
              </a:pPr>
            </a:p>
          </p:txBody>
        </p:sp>
      </p:grpSp>
      <p:sp>
        <p:nvSpPr>
          <p:cNvPr name="TextBox 12" id="12"/>
          <p:cNvSpPr txBox="true"/>
          <p:nvPr/>
        </p:nvSpPr>
        <p:spPr>
          <a:xfrm rot="0">
            <a:off x="5993465" y="852143"/>
            <a:ext cx="6301070" cy="1225550"/>
          </a:xfrm>
          <a:prstGeom prst="rect">
            <a:avLst/>
          </a:prstGeom>
        </p:spPr>
        <p:txBody>
          <a:bodyPr anchor="t" rtlCol="false" tIns="0" lIns="0" bIns="0" rIns="0">
            <a:spAutoFit/>
          </a:bodyPr>
          <a:lstStyle/>
          <a:p>
            <a:pPr algn="ctr">
              <a:lnSpc>
                <a:spcPts val="10000"/>
              </a:lnSpc>
              <a:spcBef>
                <a:spcPct val="0"/>
              </a:spcBef>
            </a:pPr>
            <a:r>
              <a:rPr lang="en-US" b="true" sz="5000">
                <a:solidFill>
                  <a:srgbClr val="024CAA"/>
                </a:solidFill>
                <a:latin typeface="Helvetica World Bold"/>
                <a:ea typeface="Helvetica World Bold"/>
                <a:cs typeface="Helvetica World Bold"/>
                <a:sym typeface="Helvetica World Bold"/>
              </a:rPr>
              <a:t>KESIMPULAN</a:t>
            </a:r>
          </a:p>
        </p:txBody>
      </p:sp>
      <p:sp>
        <p:nvSpPr>
          <p:cNvPr name="TextBox 13" id="13"/>
          <p:cNvSpPr txBox="true"/>
          <p:nvPr/>
        </p:nvSpPr>
        <p:spPr>
          <a:xfrm rot="0">
            <a:off x="5011326" y="3845938"/>
            <a:ext cx="8265349" cy="4511302"/>
          </a:xfrm>
          <a:prstGeom prst="rect">
            <a:avLst/>
          </a:prstGeom>
        </p:spPr>
        <p:txBody>
          <a:bodyPr anchor="t" rtlCol="false" tIns="0" lIns="0" bIns="0" rIns="0">
            <a:spAutoFit/>
          </a:bodyPr>
          <a:lstStyle/>
          <a:p>
            <a:pPr algn="ctr">
              <a:lnSpc>
                <a:spcPts val="5198"/>
              </a:lnSpc>
            </a:pPr>
            <a:r>
              <a:rPr lang="en-US" sz="3713">
                <a:solidFill>
                  <a:srgbClr val="FFFFFF"/>
                </a:solidFill>
                <a:latin typeface="Monda"/>
                <a:ea typeface="Monda"/>
                <a:cs typeface="Monda"/>
                <a:sym typeface="Monda"/>
              </a:rPr>
              <a:t>Laporan akhir tugas projek telah terlaksana dengan baik. Aplikasi validasi NIM berhasil dibuat menggunakan bahasa Assembly x86 dan berjalan sesuai dengan tujuan pembelajaran mata kuliah Dasar Sistem Komputer.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2621565">
            <a:off x="-5841808" y="5724806"/>
            <a:ext cx="13738659" cy="6282868"/>
            <a:chOff x="0" y="0"/>
            <a:chExt cx="3618412" cy="1654747"/>
          </a:xfrm>
        </p:grpSpPr>
        <p:sp>
          <p:nvSpPr>
            <p:cNvPr name="Freeform 4" id="4"/>
            <p:cNvSpPr/>
            <p:nvPr/>
          </p:nvSpPr>
          <p:spPr>
            <a:xfrm flipH="false" flipV="false" rot="0">
              <a:off x="0" y="0"/>
              <a:ext cx="3618412" cy="1654747"/>
            </a:xfrm>
            <a:custGeom>
              <a:avLst/>
              <a:gdLst/>
              <a:ahLst/>
              <a:cxnLst/>
              <a:rect r="r" b="b" t="t" l="l"/>
              <a:pathLst>
                <a:path h="1654747" w="3618412">
                  <a:moveTo>
                    <a:pt x="0" y="0"/>
                  </a:moveTo>
                  <a:lnTo>
                    <a:pt x="3618412" y="0"/>
                  </a:lnTo>
                  <a:lnTo>
                    <a:pt x="3618412" y="1654747"/>
                  </a:lnTo>
                  <a:lnTo>
                    <a:pt x="0" y="1654747"/>
                  </a:lnTo>
                  <a:close/>
                </a:path>
              </a:pathLst>
            </a:custGeom>
            <a:solidFill>
              <a:srgbClr val="091057"/>
            </a:solidFill>
          </p:spPr>
        </p:sp>
        <p:sp>
          <p:nvSpPr>
            <p:cNvPr name="TextBox 5" id="5"/>
            <p:cNvSpPr txBox="true"/>
            <p:nvPr/>
          </p:nvSpPr>
          <p:spPr>
            <a:xfrm>
              <a:off x="0" y="-47625"/>
              <a:ext cx="3618412" cy="170237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621565">
            <a:off x="-3664418" y="5004469"/>
            <a:ext cx="19560257" cy="3844153"/>
            <a:chOff x="0" y="0"/>
            <a:chExt cx="5151673" cy="1012452"/>
          </a:xfrm>
        </p:grpSpPr>
        <p:sp>
          <p:nvSpPr>
            <p:cNvPr name="Freeform 7" id="7"/>
            <p:cNvSpPr/>
            <p:nvPr/>
          </p:nvSpPr>
          <p:spPr>
            <a:xfrm flipH="false" flipV="false" rot="0">
              <a:off x="0" y="0"/>
              <a:ext cx="5151673" cy="1012452"/>
            </a:xfrm>
            <a:custGeom>
              <a:avLst/>
              <a:gdLst/>
              <a:ahLst/>
              <a:cxnLst/>
              <a:rect r="r" b="b" t="t" l="l"/>
              <a:pathLst>
                <a:path h="1012452" w="5151673">
                  <a:moveTo>
                    <a:pt x="0" y="0"/>
                  </a:moveTo>
                  <a:lnTo>
                    <a:pt x="5151673" y="0"/>
                  </a:lnTo>
                  <a:lnTo>
                    <a:pt x="5151673" y="1012452"/>
                  </a:lnTo>
                  <a:lnTo>
                    <a:pt x="0" y="1012452"/>
                  </a:lnTo>
                  <a:close/>
                </a:path>
              </a:pathLst>
            </a:custGeom>
            <a:solidFill>
              <a:srgbClr val="024CAA"/>
            </a:solidFill>
          </p:spPr>
        </p:sp>
        <p:sp>
          <p:nvSpPr>
            <p:cNvPr name="TextBox 8" id="8"/>
            <p:cNvSpPr txBox="true"/>
            <p:nvPr/>
          </p:nvSpPr>
          <p:spPr>
            <a:xfrm>
              <a:off x="0" y="-47625"/>
              <a:ext cx="5151673" cy="106007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028700" y="1028700"/>
            <a:ext cx="7551956" cy="755195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a:ln w="95250" cap="sq">
              <a:solidFill>
                <a:srgbClr val="FFFFFF"/>
              </a:solidFill>
              <a:prstDash val="solid"/>
              <a:miter/>
            </a:ln>
          </p:spPr>
        </p:sp>
      </p:grpSp>
      <p:sp>
        <p:nvSpPr>
          <p:cNvPr name="TextBox 11" id="11"/>
          <p:cNvSpPr txBox="true"/>
          <p:nvPr/>
        </p:nvSpPr>
        <p:spPr>
          <a:xfrm rot="0">
            <a:off x="8709376" y="2475386"/>
            <a:ext cx="8549924" cy="4485416"/>
          </a:xfrm>
          <a:prstGeom prst="rect">
            <a:avLst/>
          </a:prstGeom>
        </p:spPr>
        <p:txBody>
          <a:bodyPr anchor="t" rtlCol="false" tIns="0" lIns="0" bIns="0" rIns="0">
            <a:spAutoFit/>
          </a:bodyPr>
          <a:lstStyle/>
          <a:p>
            <a:pPr algn="r">
              <a:lnSpc>
                <a:spcPts val="15702"/>
              </a:lnSpc>
            </a:pPr>
            <a:r>
              <a:rPr lang="en-US" b="true" sz="14954">
                <a:solidFill>
                  <a:srgbClr val="024CAA"/>
                </a:solidFill>
                <a:latin typeface="Helvetica World Bold"/>
                <a:ea typeface="Helvetica World Bold"/>
                <a:cs typeface="Helvetica World Bold"/>
                <a:sym typeface="Helvetica World Bold"/>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DAG-v3rRFMw</dc:identifier>
  <dcterms:modified xsi:type="dcterms:W3CDTF">2011-08-01T06:04:30Z</dcterms:modified>
  <cp:revision>1</cp:revision>
  <dc:title>Biru dan Putih Modern Proposal bisnis Presentasi</dc:title>
</cp:coreProperties>
</file>